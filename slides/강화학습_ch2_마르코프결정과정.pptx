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90406" autoAdjust="0"/>
  </p:normalViewPr>
  <p:slideViewPr>
    <p:cSldViewPr snapToGrid="0">
      <p:cViewPr varScale="1">
        <p:scale>
          <a:sx n="145" d="100"/>
          <a:sy n="145" d="100"/>
        </p:scale>
        <p:origin x="2156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900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04E4A-07F7-4F02-B3E2-C3B5C1401BF2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A09A4-BA45-48FF-8C1A-293E53166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73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52B8-7F35-474C-84E9-53F8FF3197BA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30" y="107548"/>
            <a:ext cx="8850201" cy="8583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5280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46504"/>
            <a:ext cx="2057400" cy="365125"/>
          </a:xfrm>
        </p:spPr>
        <p:txBody>
          <a:bodyPr/>
          <a:lstStyle/>
          <a:p>
            <a:fld id="{1A785F0D-20DD-4273-B9CA-041260E6C442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46504"/>
            <a:ext cx="30861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6739-B45B-5233-56A7-143CB010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4930" y="6446503"/>
            <a:ext cx="2057400" cy="365125"/>
          </a:xfr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B87E-A7EF-4ACA-9BDB-5D9094BF3EFF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5EAE-8CF8-47D1-8180-E1B5000A314B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8A37-152F-4C96-9DE6-4708DE41A156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1E15-0549-493B-9DD1-CC25D7B85CDA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D7B3-1556-4E73-A55D-61EE568CD906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0A5E-E5EA-48C2-B8E9-7C3EB5E6F552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F73C-E35C-485D-8DBB-9E618EDD052C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45D1-34F0-40BF-8F53-7948A1A188B7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2575-9C60-45F5-B34E-AC321E4EFEC1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7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814AE1-3117-4EE0-A069-AF58D79E97B0}" type="datetime1">
              <a:rPr lang="ko-KR" altLang="en-US" smtClean="0"/>
              <a:t>2026-09-11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29522C62-A2CC-4D4B-B236-5A4E2840B6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55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41A3A7-1844-4861-8A25-948A63554618}" type="datetime1">
              <a:rPr lang="ko-KR" altLang="en-US" smtClean="0"/>
              <a:t>2026-09-11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005F6450-F049-4D29-A92C-0D9D1E715E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93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E93FD-76F7-4014-9EF6-7780B36380F8}" type="datetime1">
              <a:rPr lang="ko-KR" altLang="en-US" smtClean="0"/>
              <a:t>2026-09-11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DBF13599-2EB2-4F77-8517-1EB74F3E4D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36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63D1D4-B057-4AAA-9672-CCE53A692238}" type="datetime1">
              <a:rPr lang="ko-KR" altLang="en-US" smtClean="0"/>
              <a:t>2026-09-11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41178C87-A3B4-4516-BF8E-6B60B525655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73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3065C-782C-4112-9CED-1FE7AAC3A4D5}" type="datetime1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338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2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1.png"/><Relationship Id="rId4" Type="http://schemas.openxmlformats.org/officeDocument/2006/relationships/image" Target="../media/image36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0835" y="1122363"/>
            <a:ext cx="8800935" cy="2387600"/>
          </a:xfrm>
        </p:spPr>
        <p:txBody>
          <a:bodyPr anchor="ctr">
            <a:normAutofit/>
          </a:bodyPr>
          <a:lstStyle/>
          <a:p>
            <a:r>
              <a:rPr lang="ko-KR" altLang="en-US" sz="5400" dirty="0" err="1"/>
              <a:t>마르코프</a:t>
            </a:r>
            <a:r>
              <a:rPr lang="ko-KR" altLang="en-US" sz="5400" dirty="0"/>
              <a:t> 결정 과정</a:t>
            </a:r>
            <a:endParaRPr lang="en-US" altLang="ko-KR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ko-KR" sz="2800" dirty="0" err="1"/>
              <a:t>Jinhyun</a:t>
            </a:r>
            <a:r>
              <a:rPr lang="en-US" altLang="ko-KR" sz="2800" dirty="0"/>
              <a:t> </a:t>
            </a:r>
            <a:r>
              <a:rPr lang="en-US" altLang="ko-KR" sz="2800" dirty="0" err="1"/>
              <a:t>Ahn</a:t>
            </a:r>
            <a:endParaRPr lang="ko-KR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37325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040B31-035A-0C78-5AAF-5B176D0B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dirty="0" err="1"/>
              <a:t>마르코프</a:t>
            </a:r>
            <a:r>
              <a:rPr lang="ko-KR" altLang="en-US" sz="3200" dirty="0"/>
              <a:t> 결정 과정</a:t>
            </a:r>
            <a:r>
              <a:rPr lang="en-US" altLang="ko-KR" sz="3200" dirty="0"/>
              <a:t>(Markov Decision Process)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DB607A-44F4-15B7-905E-D6FA3B5A9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2400" dirty="0"/>
              <a:t>에이전트가 </a:t>
            </a:r>
            <a:r>
              <a:rPr lang="en-US" altLang="ko-KR" sz="2400" dirty="0"/>
              <a:t>(</a:t>
            </a:r>
            <a:r>
              <a:rPr lang="ko-KR" altLang="en-US" sz="2400" dirty="0"/>
              <a:t>환경과 상호작용하면서</a:t>
            </a:r>
            <a:r>
              <a:rPr lang="en-US" altLang="ko-KR" sz="2400" dirty="0"/>
              <a:t>) </a:t>
            </a:r>
            <a:r>
              <a:rPr lang="ko-KR" altLang="en-US" sz="2400" dirty="0"/>
              <a:t>행동을 결정하는 과정</a:t>
            </a:r>
            <a:endParaRPr lang="en-US" altLang="ko-KR" sz="2400" dirty="0"/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r>
              <a:rPr lang="ko-KR" altLang="en-US" sz="2400" dirty="0"/>
              <a:t>왼쪽으로 두 번 연달아 이동하면 에이전트는 </a:t>
            </a:r>
            <a:r>
              <a:rPr lang="en-US" altLang="ko-KR" sz="2400" dirty="0"/>
              <a:t>+1</a:t>
            </a:r>
            <a:r>
              <a:rPr lang="ko-KR" altLang="en-US" sz="2400" dirty="0"/>
              <a:t>의 보상</a:t>
            </a:r>
            <a:endParaRPr lang="en-US" altLang="ko-KR" sz="2400" dirty="0"/>
          </a:p>
          <a:p>
            <a:pPr algn="just">
              <a:lnSpc>
                <a:spcPct val="100000"/>
              </a:lnSpc>
            </a:pPr>
            <a:r>
              <a:rPr lang="ko-KR" altLang="en-US" sz="2400" dirty="0"/>
              <a:t>오른쪽으로 두 번 이동하면 </a:t>
            </a:r>
            <a:r>
              <a:rPr lang="en-US" altLang="ko-KR" sz="2400" dirty="0"/>
              <a:t>-2</a:t>
            </a:r>
            <a:r>
              <a:rPr lang="ko-KR" altLang="en-US" sz="2400" dirty="0"/>
              <a:t>의 보상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62971-CDB1-2BA5-D701-FD9E55BD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06AC674-E0F8-8C05-E318-E4D003111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093" y="1670009"/>
            <a:ext cx="3988005" cy="157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39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A681E-FA8A-023A-AFFC-B40060BE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MDP</a:t>
            </a:r>
            <a:r>
              <a:rPr lang="ko-KR" altLang="en-US" dirty="0"/>
              <a:t>의 상태전이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56FE40-3942-7EC8-117F-FA7ADFA70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MDP</a:t>
            </a:r>
            <a:r>
              <a:rPr lang="ko-KR" altLang="en-US" dirty="0"/>
              <a:t>에서는 에이전트의 행동에 따라 상태가 바뀌고</a:t>
            </a:r>
            <a:r>
              <a:rPr lang="en-US" altLang="ko-KR" dirty="0"/>
              <a:t>, </a:t>
            </a:r>
            <a:r>
              <a:rPr lang="ko-KR" altLang="en-US" dirty="0"/>
              <a:t>상태가 바뀐 곳에서 새로운 행동을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9D74E0-6E08-7286-C292-8283751F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794C74-62BB-4287-0CD4-C1B4FFB07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484" y="2060726"/>
            <a:ext cx="5537485" cy="360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3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E5C60-5ADC-A10A-9A5F-F4DF1DD7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새로운 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C8F9FD-829B-05DA-9EC0-C756E31A8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29" y="2769576"/>
            <a:ext cx="8850201" cy="356682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2400" dirty="0"/>
              <a:t>오른쪽으로 이동하면 즉시 얻는 보상은 마이너스지만</a:t>
            </a:r>
            <a:r>
              <a:rPr lang="en-US" altLang="ko-KR" sz="2400" dirty="0"/>
              <a:t>, </a:t>
            </a:r>
            <a:r>
              <a:rPr lang="ko-KR" altLang="en-US" sz="2400" dirty="0"/>
              <a:t>한 번 더 오른쪽으로 이동하면 </a:t>
            </a:r>
            <a:r>
              <a:rPr lang="en-US" altLang="ko-KR" sz="2400" dirty="0"/>
              <a:t>+6</a:t>
            </a:r>
            <a:r>
              <a:rPr lang="ko-KR" altLang="en-US" sz="2400" dirty="0" err="1"/>
              <a:t>짜리</a:t>
            </a:r>
            <a:r>
              <a:rPr lang="ko-KR" altLang="en-US" sz="2400" dirty="0"/>
              <a:t> 사과더미를 얻을 수 있음</a:t>
            </a:r>
            <a:endParaRPr lang="en-US" altLang="ko-KR" sz="2400" dirty="0"/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r>
              <a:rPr lang="ko-KR" altLang="en-US" sz="2400" dirty="0"/>
              <a:t>이 문제에서 최선의 행동은 오른쪽으로 두 번 이동하는 것</a:t>
            </a:r>
            <a:endParaRPr lang="en-US" altLang="ko-KR" sz="2400" dirty="0"/>
          </a:p>
          <a:p>
            <a:pPr algn="just">
              <a:lnSpc>
                <a:spcPct val="100000"/>
              </a:lnSpc>
            </a:pPr>
            <a:r>
              <a:rPr lang="ko-KR" altLang="en-US" sz="2400" dirty="0"/>
              <a:t>에이전트는 눈앞의 보상이 아니라 미래에 얻을 수 있는 보상의 총합을 고려해야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022A26-3361-F332-B6A6-35D0DC80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52D2934-6642-03CF-3BD5-0E766DD27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902" y="1039895"/>
            <a:ext cx="3784795" cy="149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82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924E3-FB0A-F38E-49A7-D0F79E69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에이전트와 환경의 상호작용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C142BE-B998-57A7-CE60-E3E764910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33F772-F649-B831-24C2-CA75D6E3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A7CFA42-264B-A20A-CFFF-1FE245127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824" y="1258711"/>
            <a:ext cx="3098959" cy="21337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76EEBE-4CEF-FE5E-5D6A-A32E779264B5}"/>
                  </a:ext>
                </a:extLst>
              </p:cNvPr>
              <p:cNvSpPr txBox="1"/>
              <p:nvPr/>
            </p:nvSpPr>
            <p:spPr>
              <a:xfrm>
                <a:off x="1984864" y="3948495"/>
                <a:ext cx="46203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76EEBE-4CEF-FE5E-5D6A-A32E7792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864" y="3948495"/>
                <a:ext cx="4620356" cy="523220"/>
              </a:xfrm>
              <a:prstGeom prst="rect">
                <a:avLst/>
              </a:prstGeom>
              <a:blipFill>
                <a:blip r:embed="rId3"/>
                <a:stretch>
                  <a:fillRect r="-46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280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AE187D-D334-D653-F874-023C2093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환경과 에이전트를 수식으로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BBA481-85BC-AAA8-7D95-ABC80455D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상태전이</a:t>
            </a:r>
            <a:r>
              <a:rPr lang="en-US" altLang="ko-KR" dirty="0"/>
              <a:t>: </a:t>
            </a:r>
            <a:r>
              <a:rPr lang="ko-KR" altLang="en-US" dirty="0"/>
              <a:t>상태는 어떻게 전이되는가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보상</a:t>
            </a:r>
            <a:r>
              <a:rPr lang="en-US" altLang="ko-KR" dirty="0"/>
              <a:t>: </a:t>
            </a:r>
            <a:r>
              <a:rPr lang="ko-KR" altLang="en-US" dirty="0"/>
              <a:t>보상은 어떻게 주어지는가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정책</a:t>
            </a:r>
            <a:r>
              <a:rPr lang="en-US" altLang="ko-KR" dirty="0"/>
              <a:t>: </a:t>
            </a:r>
            <a:r>
              <a:rPr lang="ko-KR" altLang="en-US" dirty="0"/>
              <a:t>에이전트는 행동을 어떻게 결정하는가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AA8DD5-FB6D-2CD6-DD4C-5344D343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724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EB7E0-ED7B-3A64-4794-0E6379E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상태전이</a:t>
            </a:r>
            <a:r>
              <a:rPr lang="en-US" altLang="ko-KR" dirty="0"/>
              <a:t>(State transition)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3F6351-77A1-71A7-C3E7-78959132A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1600" dirty="0"/>
              <a:t>결정적</a:t>
            </a:r>
            <a:r>
              <a:rPr lang="en-US" altLang="ko-KR" sz="1600" dirty="0"/>
              <a:t>(deterministic)</a:t>
            </a:r>
            <a:r>
              <a:rPr lang="ko-KR" altLang="en-US" sz="1600" dirty="0"/>
              <a:t> 상태 전이</a:t>
            </a:r>
            <a:r>
              <a:rPr lang="en-US" altLang="ko-KR" sz="1600" dirty="0"/>
              <a:t>: </a:t>
            </a:r>
            <a:r>
              <a:rPr lang="ko-KR" altLang="en-US" sz="1600" dirty="0"/>
              <a:t>현재 상태와 수행할 행동이 주어졌을 때 다음 상태가 단 하나로 확정되는 전이 방식</a:t>
            </a:r>
            <a:endParaRPr lang="en-US" altLang="ko-KR" sz="1600" dirty="0"/>
          </a:p>
          <a:p>
            <a:pPr algn="just">
              <a:lnSpc>
                <a:spcPct val="100000"/>
              </a:lnSpc>
            </a:pPr>
            <a:r>
              <a:rPr lang="ko-KR" altLang="en-US" sz="1600" dirty="0"/>
              <a:t>상태전이 함수</a:t>
            </a:r>
            <a:r>
              <a:rPr lang="en-US" altLang="ko-KR" sz="1600" dirty="0"/>
              <a:t>(state transition function)</a:t>
            </a:r>
          </a:p>
          <a:p>
            <a:pPr algn="just">
              <a:lnSpc>
                <a:spcPct val="100000"/>
              </a:lnSpc>
            </a:pPr>
            <a:endParaRPr lang="en-US" altLang="ko-KR" sz="1600" dirty="0"/>
          </a:p>
          <a:p>
            <a:pPr algn="just">
              <a:lnSpc>
                <a:spcPct val="100000"/>
              </a:lnSpc>
            </a:pPr>
            <a:r>
              <a:rPr lang="ko-KR" altLang="en-US" sz="1600" dirty="0"/>
              <a:t>확률적</a:t>
            </a:r>
            <a:r>
              <a:rPr lang="en-US" altLang="ko-KR" sz="1600" dirty="0"/>
              <a:t>(stochastic)</a:t>
            </a:r>
            <a:r>
              <a:rPr lang="ko-KR" altLang="en-US" sz="1600" dirty="0"/>
              <a:t> 상태 전이</a:t>
            </a:r>
            <a:r>
              <a:rPr lang="en-US" altLang="ko-KR" sz="1600" dirty="0"/>
              <a:t>: </a:t>
            </a:r>
            <a:r>
              <a:rPr lang="ko-KR" altLang="en-US" sz="1600" dirty="0"/>
              <a:t>현재 상태와 행동이 주어졌을 때 다음 상태가 단일 값으로 고정되지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여러 가능한 상태 중 하나로 확률 분포에 따라 결정되는 전이 방식</a:t>
            </a:r>
            <a:endParaRPr lang="en-US" altLang="ko-KR" sz="1600" dirty="0"/>
          </a:p>
          <a:p>
            <a:pPr algn="just">
              <a:lnSpc>
                <a:spcPct val="100000"/>
              </a:lnSpc>
            </a:pPr>
            <a:r>
              <a:rPr lang="ko-KR" altLang="en-US" sz="1600" dirty="0"/>
              <a:t>상태전이 확률</a:t>
            </a:r>
            <a:r>
              <a:rPr lang="en-US" altLang="ko-KR" sz="1600" dirty="0"/>
              <a:t>(state transition probability)</a:t>
            </a:r>
          </a:p>
          <a:p>
            <a:pPr algn="just">
              <a:lnSpc>
                <a:spcPct val="100000"/>
              </a:lnSpc>
            </a:pPr>
            <a:endParaRPr lang="en-US" altLang="ko-KR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8ED47F-E6DD-2D67-064F-A8D88D86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19264B-5D93-9FCE-07BE-4DC043C040B2}"/>
                  </a:ext>
                </a:extLst>
              </p:cNvPr>
              <p:cNvSpPr txBox="1"/>
              <p:nvPr/>
            </p:nvSpPr>
            <p:spPr>
              <a:xfrm>
                <a:off x="3488349" y="1679293"/>
                <a:ext cx="283332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’=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19264B-5D93-9FCE-07BE-4DC043C04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349" y="1679293"/>
                <a:ext cx="2833322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52D459-5CB8-0C16-89F0-40505A7580B1}"/>
                  </a:ext>
                </a:extLst>
              </p:cNvPr>
              <p:cNvSpPr txBox="1"/>
              <p:nvPr/>
            </p:nvSpPr>
            <p:spPr>
              <a:xfrm>
                <a:off x="3978520" y="3014628"/>
                <a:ext cx="22486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’|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52D459-5CB8-0C16-89F0-40505A758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520" y="3014628"/>
                <a:ext cx="2248632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507EB8D9-34BE-ACC7-BC0B-13FA61971F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705" y="3705393"/>
            <a:ext cx="5791498" cy="214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4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35940-3712-BE60-2E64-43CC3DCE2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상태전이 확률의 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16B703D-71C0-CB5E-8075-EAB316E8C1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에이전트가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ko-KR" altLang="en-US" dirty="0"/>
                  <a:t>에 있을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행동으로 </a:t>
                </a:r>
                <a:r>
                  <a:rPr lang="en-US" altLang="ko-KR" dirty="0"/>
                  <a:t>Left</a:t>
                </a:r>
                <a:r>
                  <a:rPr lang="ko-KR" altLang="en-US" dirty="0"/>
                  <a:t>를 선택한 경우의 상태 전이 확률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’|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3,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i="0" dirty="0" smtClean="0">
                        <a:latin typeface="Cambria Math" panose="02040503050406030204" pitchFamily="18" charset="0"/>
                      </a:rPr>
                      <m:t>Left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16B703D-71C0-CB5E-8075-EAB316E8C1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r="-1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62942-F409-253C-A29F-FFD1E732F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2C58EA-271A-A4CD-BCDE-628B0A8BE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78" y="1912779"/>
            <a:ext cx="5499383" cy="13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4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67FE3-8802-9212-2AC3-602D68BC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마르코프</a:t>
            </a:r>
            <a:r>
              <a:rPr lang="ko-KR" altLang="en-US" dirty="0"/>
              <a:t> 성질</a:t>
            </a:r>
            <a:r>
              <a:rPr lang="en-US" altLang="ko-KR" dirty="0"/>
              <a:t>(Markov Property)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EA4BAA2-DAF0-C386-DD82-5A40DD093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ko-KR" altLang="en-US" dirty="0"/>
                  <a:t>미래의 상태가 과거의 모든 이력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히스토리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과 무관하게 오직 현재 상태에 의해서만 결정된다는 조건</a:t>
                </a:r>
                <a:endParaRPr lang="en-US" altLang="ko-KR" dirty="0"/>
              </a:p>
              <a:p>
                <a:pPr algn="just">
                  <a:lnSpc>
                    <a:spcPct val="150000"/>
                  </a:lnSpc>
                </a:pPr>
                <a:endParaRPr lang="en-US" altLang="ko-KR" dirty="0"/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’|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다음 상태 </a:t>
                </a:r>
                <a:r>
                  <a:rPr lang="en-US" altLang="ko-KR" dirty="0"/>
                  <a:t>s’</a:t>
                </a:r>
                <a:r>
                  <a:rPr lang="ko-KR" altLang="en-US" dirty="0"/>
                  <a:t>를 결정하는 데는 </a:t>
                </a:r>
                <a:r>
                  <a:rPr lang="en-US" altLang="ko-KR" dirty="0"/>
                  <a:t>‘</a:t>
                </a:r>
                <a:r>
                  <a:rPr lang="ko-KR" altLang="en-US" dirty="0"/>
                  <a:t>현재</a:t>
                </a:r>
                <a:r>
                  <a:rPr lang="en-US" altLang="ko-KR" dirty="0"/>
                  <a:t>’ </a:t>
                </a:r>
                <a:r>
                  <a:rPr lang="ko-KR" altLang="en-US" dirty="0"/>
                  <a:t>상태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dirty="0"/>
                  <a:t>와 행동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dirty="0"/>
                  <a:t>만이 영향을 줌</a:t>
                </a:r>
                <a:endParaRPr lang="en-US" altLang="ko-KR" dirty="0"/>
              </a:p>
              <a:p>
                <a:pPr algn="just">
                  <a:lnSpc>
                    <a:spcPct val="150000"/>
                  </a:lnSpc>
                </a:pPr>
                <a:endParaRPr lang="en-US" altLang="ko-KR" dirty="0"/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dirty="0"/>
                  <a:t>MDP</a:t>
                </a:r>
                <a:r>
                  <a:rPr lang="ko-KR" altLang="en-US" dirty="0"/>
                  <a:t>는 </a:t>
                </a:r>
                <a:r>
                  <a:rPr lang="ko-KR" altLang="en-US" dirty="0" err="1"/>
                  <a:t>마르코프</a:t>
                </a:r>
                <a:r>
                  <a:rPr lang="ko-KR" altLang="en-US" dirty="0"/>
                  <a:t> 성질을 만족한다고 가정하고 상태 전이와 보상을 모델링</a:t>
                </a:r>
                <a:endParaRPr lang="en-US" altLang="ko-KR" dirty="0"/>
              </a:p>
              <a:p>
                <a:pPr algn="just">
                  <a:lnSpc>
                    <a:spcPct val="150000"/>
                  </a:lnSpc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EA4BAA2-DAF0-C386-DD82-5A40DD093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2" r="-12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FCA23-BB84-48C3-0814-9C8A1BB4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89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1054F-823C-FD47-B658-51285271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보상 함수 </a:t>
            </a:r>
            <a:r>
              <a:rPr lang="en-US" altLang="ko-KR" dirty="0"/>
              <a:t>(reward function)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DC9DEE-2618-1541-DCD5-0D4A8A371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에이전트가 상태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dirty="0"/>
                  <a:t>에서 행동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dirty="0"/>
                  <a:t>를 수행하여 다음 상태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‘</m:t>
                    </m:r>
                  </m:oMath>
                </a14:m>
                <a:r>
                  <a:rPr lang="ko-KR" altLang="en-US" dirty="0"/>
                  <a:t>가 되었을 때 얻는 보상</a:t>
                </a: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ko-KR" altLang="en-US" dirty="0"/>
                  <a:t>만 알면 보상이 결정됨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보상이 결정적으로 주어짐</a:t>
                </a:r>
                <a:r>
                  <a:rPr lang="en-US" altLang="ko-KR" dirty="0"/>
                  <a:t>)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DC9DEE-2618-1541-DCD5-0D4A8A371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155" r="-1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B4AE15-14C4-B945-2FB0-5EA8365A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A41608-888D-87B1-DB33-B81F17838B96}"/>
                  </a:ext>
                </a:extLst>
              </p:cNvPr>
              <p:cNvSpPr txBox="1"/>
              <p:nvPr/>
            </p:nvSpPr>
            <p:spPr>
              <a:xfrm>
                <a:off x="2261822" y="1929873"/>
                <a:ext cx="46203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800" i="1" dirty="0" err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8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800" i="1" dirty="0" err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8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800" i="1" dirty="0" err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800" i="1" dirty="0" smtClean="0"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altLang="ko-KR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A41608-888D-87B1-DB33-B81F17838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822" y="1929873"/>
                <a:ext cx="46203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5C72989C-B487-B14D-554A-F57E9958CC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410" y="2831088"/>
            <a:ext cx="5423179" cy="137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63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F65A0-1969-59DF-21AD-519E88D2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에이전트의 정책</a:t>
            </a:r>
            <a:r>
              <a:rPr lang="en-US" altLang="ko-KR" dirty="0"/>
              <a:t>(policy)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C5708-741A-FABB-17FA-54DDDF598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정책은 에이전트가 행동을 결정하는 방식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 err="1"/>
              <a:t>마르코프</a:t>
            </a:r>
            <a:r>
              <a:rPr lang="ko-KR" altLang="en-US" dirty="0"/>
              <a:t> 성질에 따르는 경우 </a:t>
            </a:r>
            <a:r>
              <a:rPr lang="en-US" altLang="ko-KR" dirty="0"/>
              <a:t>‘</a:t>
            </a:r>
            <a:r>
              <a:rPr lang="ko-KR" altLang="en-US" dirty="0"/>
              <a:t>현재 상태</a:t>
            </a:r>
            <a:r>
              <a:rPr lang="en-US" altLang="ko-KR" dirty="0"/>
              <a:t>’</a:t>
            </a:r>
            <a:r>
              <a:rPr lang="ko-KR" altLang="en-US" dirty="0"/>
              <a:t>만으로 행동을 결정할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A8AD7-E07C-7A3C-1661-E1D1783E6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39F200-65FE-9BE9-3F77-7DAF6B264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483" y="2781790"/>
            <a:ext cx="5448580" cy="18288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C960C2-65BB-4CE4-FB67-544AE7C2C6BB}"/>
                  </a:ext>
                </a:extLst>
              </p:cNvPr>
              <p:cNvSpPr txBox="1"/>
              <p:nvPr/>
            </p:nvSpPr>
            <p:spPr>
              <a:xfrm>
                <a:off x="2598126" y="4700837"/>
                <a:ext cx="121373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b="0" dirty="0">
                    <a:latin typeface="Cambria Math" panose="02040503050406030204" pitchFamily="18" charset="0"/>
                  </a:rPr>
                  <a:t>결정적 정책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C960C2-65BB-4CE4-FB67-544AE7C2C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26" y="4700837"/>
                <a:ext cx="1213730" cy="553998"/>
              </a:xfrm>
              <a:prstGeom prst="rect">
                <a:avLst/>
              </a:prstGeom>
              <a:blipFill>
                <a:blip r:embed="rId3"/>
                <a:stretch>
                  <a:fillRect l="-11558" t="-14286" r="-11055" b="-164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29D8A8-F009-B886-0821-08EB8BB91819}"/>
                  </a:ext>
                </a:extLst>
              </p:cNvPr>
              <p:cNvSpPr txBox="1"/>
              <p:nvPr/>
            </p:nvSpPr>
            <p:spPr>
              <a:xfrm>
                <a:off x="5593608" y="4648334"/>
                <a:ext cx="120545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b="0" dirty="0">
                    <a:latin typeface="Cambria Math" panose="02040503050406030204" pitchFamily="18" charset="0"/>
                  </a:rPr>
                  <a:t>확률적 정책</a:t>
                </a:r>
                <a:endParaRPr lang="en-US" altLang="ko-KR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29D8A8-F009-B886-0821-08EB8BB91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608" y="4648334"/>
                <a:ext cx="1205458" cy="553998"/>
              </a:xfrm>
              <a:prstGeom prst="rect">
                <a:avLst/>
              </a:prstGeom>
              <a:blipFill>
                <a:blip r:embed="rId4"/>
                <a:stretch>
                  <a:fillRect l="-12183" t="-14444" r="-11675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54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48CED-7F81-D03C-2F1D-9AF64530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MDP</a:t>
            </a:r>
            <a:r>
              <a:rPr lang="ko-KR" altLang="en-US" dirty="0"/>
              <a:t>의 목표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86A1C01-684D-6875-9E00-471CC05D95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에이전트는 정책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에 따라 행동함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그 행동과 상태 전이 확률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’|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에 의해 다음 상태가 결정됨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그리고 보상은 보상 함수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가 결정함</a:t>
                </a: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이 틀 안에서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최적 정책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(optimal policy)</a:t>
                </a:r>
                <a:r>
                  <a:rPr lang="ko-KR" altLang="en-US" dirty="0"/>
                  <a:t>을 찾는 것이 </a:t>
                </a:r>
                <a:r>
                  <a:rPr lang="en-US" altLang="ko-KR" dirty="0"/>
                  <a:t>MDP</a:t>
                </a:r>
                <a:r>
                  <a:rPr lang="ko-KR" altLang="en-US" dirty="0"/>
                  <a:t>의 목표</a:t>
                </a:r>
                <a:endParaRPr lang="en-US" altLang="ko-KR" dirty="0"/>
              </a:p>
              <a:p>
                <a:pPr lvl="1" algn="just">
                  <a:lnSpc>
                    <a:spcPct val="100000"/>
                  </a:lnSpc>
                </a:pPr>
                <a:r>
                  <a:rPr lang="ko-KR" altLang="en-US" dirty="0"/>
                  <a:t>수익이 최대가 되는 정책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86A1C01-684D-6875-9E00-471CC05D95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155" r="-1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AD806-AB10-844E-0EA2-545EBA03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874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D95C05-049B-8EB1-18E0-4E6D29CE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일회성 과제와 지속적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1D993-2FBF-2AC2-411F-1EDFCE9A9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일회성 과제</a:t>
            </a:r>
            <a:r>
              <a:rPr lang="en-US" altLang="ko-KR" dirty="0"/>
              <a:t>(episodic task)</a:t>
            </a:r>
            <a:r>
              <a:rPr lang="ko-KR" altLang="en-US" dirty="0"/>
              <a:t>는 </a:t>
            </a:r>
            <a:r>
              <a:rPr lang="en-US" altLang="ko-KR" dirty="0"/>
              <a:t>‘</a:t>
            </a:r>
            <a:r>
              <a:rPr lang="ko-KR" altLang="en-US" dirty="0"/>
              <a:t>끝</a:t>
            </a:r>
            <a:r>
              <a:rPr lang="en-US" altLang="ko-KR" dirty="0"/>
              <a:t>’</a:t>
            </a:r>
            <a:r>
              <a:rPr lang="ko-KR" altLang="en-US" dirty="0"/>
              <a:t>이 있는 문제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에피소드</a:t>
            </a:r>
            <a:r>
              <a:rPr lang="en-US" altLang="ko-KR" dirty="0"/>
              <a:t>(episode): </a:t>
            </a:r>
            <a:r>
              <a:rPr lang="ko-KR" altLang="en-US" dirty="0"/>
              <a:t>시작부터 끝까지의 일련의 시도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바둑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지속적 과제</a:t>
            </a:r>
            <a:r>
              <a:rPr lang="en-US" altLang="ko-KR" dirty="0"/>
              <a:t>(continuous task)</a:t>
            </a:r>
            <a:r>
              <a:rPr lang="ko-KR" altLang="en-US" dirty="0"/>
              <a:t>는 </a:t>
            </a:r>
            <a:r>
              <a:rPr lang="en-US" altLang="ko-KR" dirty="0"/>
              <a:t>‘</a:t>
            </a:r>
            <a:r>
              <a:rPr lang="ko-KR" altLang="en-US" dirty="0"/>
              <a:t>끝</a:t>
            </a:r>
            <a:r>
              <a:rPr lang="en-US" altLang="ko-KR" dirty="0"/>
              <a:t>’</a:t>
            </a:r>
            <a:r>
              <a:rPr lang="ko-KR" altLang="en-US" dirty="0"/>
              <a:t>이 없는 문제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재고관리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A094E5-6495-BBAA-F302-F6FE91B7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AFF74F-D485-4AA1-457F-0E4F175EE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080" y="2477432"/>
            <a:ext cx="5550185" cy="172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54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9D68C-01C3-0A0A-3803-A500D9BA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수익</a:t>
            </a:r>
            <a:r>
              <a:rPr lang="en-US" altLang="ko-KR" dirty="0"/>
              <a:t>(return)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1541A5D-236F-0E14-D0AA-C8977A608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130" y="1066040"/>
                <a:ext cx="8850201" cy="5280338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ko-KR" altLang="en-US" sz="2400" dirty="0"/>
                  <a:t>시간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/>
                  <a:t>에서의 상태가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400" dirty="0"/>
                  <a:t>이고 에이전트가 정책 에 따라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400" dirty="0"/>
                  <a:t>를 하고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보상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400" dirty="0"/>
                  <a:t>를 얻고 새로운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2400" dirty="0"/>
                  <a:t>로 전이함</a:t>
                </a: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r>
                  <a:rPr lang="ko-KR" altLang="en-US" sz="2400" dirty="0"/>
                  <a:t>시간이 지날수록 보상은 </a:t>
                </a:r>
                <a:r>
                  <a:rPr lang="en-US" altLang="ko-KR" sz="2400" dirty="0"/>
                  <a:t>r(</a:t>
                </a:r>
                <a:r>
                  <a:rPr lang="ko-KR" altLang="en-US" sz="2400" dirty="0"/>
                  <a:t>할인율</a:t>
                </a:r>
                <a:r>
                  <a:rPr lang="en-US" altLang="ko-KR" sz="2400" dirty="0"/>
                  <a:t>, discount rate)</a:t>
                </a:r>
                <a:r>
                  <a:rPr lang="ko-KR" altLang="en-US" sz="2400" dirty="0"/>
                  <a:t>에 의해 기하급수적으로 줄어듦</a:t>
                </a: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r>
                  <a:rPr lang="ko-KR" altLang="en-US" sz="2400" dirty="0">
                    <a:solidFill>
                      <a:srgbClr val="FF0000"/>
                    </a:solidFill>
                  </a:rPr>
                  <a:t>지속적 과제</a:t>
                </a:r>
                <a:r>
                  <a:rPr lang="ko-KR" altLang="en-US" sz="2400" dirty="0"/>
                  <a:t>에서 수익이 무한대가 되지 않도록 방지함</a:t>
                </a: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ko-KR" altLang="en-US" sz="24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1541A5D-236F-0E14-D0AA-C8977A608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130" y="1066040"/>
                <a:ext cx="8850201" cy="5280338"/>
              </a:xfrm>
              <a:blipFill>
                <a:blip r:embed="rId2"/>
                <a:stretch>
                  <a:fillRect l="-964" t="-808" r="-1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CCDA5-3D20-575D-9301-0CD749CC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766100-D018-48A9-1C78-C78904DFAF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75" r="29618" b="-5126"/>
          <a:stretch>
            <a:fillRect/>
          </a:stretch>
        </p:blipFill>
        <p:spPr>
          <a:xfrm>
            <a:off x="2195283" y="2079369"/>
            <a:ext cx="4513247" cy="6550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CFE71E-D129-5304-F683-38C25B18B09E}"/>
                  </a:ext>
                </a:extLst>
              </p:cNvPr>
              <p:cNvSpPr txBox="1"/>
              <p:nvPr/>
            </p:nvSpPr>
            <p:spPr>
              <a:xfrm>
                <a:off x="2017513" y="4237895"/>
                <a:ext cx="5188152" cy="4875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0.9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4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0.81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400" i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b>
                      </m:sSub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ko-K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CFE71E-D129-5304-F683-38C25B18B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513" y="4237895"/>
                <a:ext cx="5188152" cy="4875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C029C-0FE5-0C38-7555-B4E54714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상태 가치 함수</a:t>
            </a:r>
            <a:r>
              <a:rPr lang="en-US" altLang="ko-KR" dirty="0"/>
              <a:t>(State-value function)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090146B-5E72-AA15-4866-7BD76F5B97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에이전트와 환경이 확률적으로 동장하기 때문에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얻는 수익도 확률적으로 달라짐</a:t>
                </a:r>
                <a:endParaRPr lang="en-US" altLang="ko-KR" dirty="0"/>
              </a:p>
              <a:p>
                <a:pPr lvl="1" algn="just">
                  <a:lnSpc>
                    <a:spcPct val="100000"/>
                  </a:lnSpc>
                </a:pPr>
                <a:r>
                  <a:rPr lang="ko-KR" altLang="en-US" dirty="0"/>
                  <a:t>같은 상태에 시작되더라도 에피소드마다 수익이 달라짐</a:t>
                </a: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상태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dirty="0"/>
                  <a:t>이고 에이전트의 정책이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/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 err="1"/>
                  <a:t>일때</a:t>
                </a:r>
                <a:r>
                  <a:rPr lang="ko-KR" altLang="en-US" dirty="0"/>
                  <a:t> 수익의 </a:t>
                </a:r>
                <a:r>
                  <a:rPr lang="ko-KR" altLang="en-US" dirty="0" err="1"/>
                  <a:t>기댓값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상태 가치 함수</a:t>
                </a:r>
                <a:r>
                  <a:rPr lang="en-US" altLang="ko-KR" dirty="0"/>
                  <a:t>)</a:t>
                </a:r>
              </a:p>
              <a:p>
                <a:pPr algn="just">
                  <a:lnSpc>
                    <a:spcPct val="100000"/>
                  </a:lnSpc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090146B-5E72-AA15-4866-7BD76F5B97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155" r="-1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022D09-0082-909F-3E28-617A3032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717168-6BB0-AA4C-1B17-59759A391A57}"/>
                  </a:ext>
                </a:extLst>
              </p:cNvPr>
              <p:cNvSpPr txBox="1"/>
              <p:nvPr/>
            </p:nvSpPr>
            <p:spPr>
              <a:xfrm>
                <a:off x="3209193" y="3955610"/>
                <a:ext cx="2424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717168-6BB0-AA4C-1B17-59759A391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193" y="3955610"/>
                <a:ext cx="2424382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020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3DDFF-10F3-6ABA-AD30-40772C79E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 정책과 최적 가치 함수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62A3C1-81F4-3F0A-953E-9B12AF1AA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ko-KR" altLang="en-US" sz="2400" dirty="0"/>
                  <a:t>두 가지 정책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en-US" sz="2400" dirty="0"/>
                  <a:t>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'</m:t>
                        </m:r>
                      </m:sup>
                    </m:sSup>
                  </m:oMath>
                </a14:m>
                <a:r>
                  <a:rPr lang="ko-KR" altLang="en-US" sz="2400" dirty="0"/>
                  <a:t>에 대해서 상태 가치 함수가 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'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ko-KR" altLang="en-US" sz="2400" dirty="0"/>
                  <a:t>로 결정 됨</a:t>
                </a: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r>
                  <a:rPr lang="ko-KR" altLang="en-US" sz="2400" dirty="0"/>
                  <a:t>최적 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*</m:t>
                        </m:r>
                      </m:sub>
                    </m:sSub>
                  </m:oMath>
                </a14:m>
                <a:r>
                  <a:rPr lang="ko-KR" altLang="en-US" sz="2400" dirty="0"/>
                  <a:t>는 다른 정책과 비교하여 모든 상태에서 상태 가치 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*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400" dirty="0"/>
                  <a:t>의 값이 더 큰 정책</a:t>
                </a:r>
                <a:endParaRPr lang="en-US" altLang="ko-KR" sz="2400" dirty="0"/>
              </a:p>
              <a:p>
                <a:pPr algn="just">
                  <a:lnSpc>
                    <a:spcPct val="110000"/>
                  </a:lnSpc>
                </a:pPr>
                <a:r>
                  <a:rPr lang="ko-KR" altLang="en-US" sz="2400" dirty="0"/>
                  <a:t>최적 정책의 상태가치 함수를 최적 상태 가치 함수</a:t>
                </a:r>
                <a:r>
                  <a:rPr lang="en-US" altLang="ko-KR" sz="2400" dirty="0"/>
                  <a:t>(Optimal state-value function)</a:t>
                </a:r>
                <a:r>
                  <a:rPr lang="ko-KR" altLang="en-US" sz="2400" dirty="0"/>
                  <a:t>라고 칭함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62A3C1-81F4-3F0A-953E-9B12AF1AA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4" t="-693" r="-1033" b="-5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21E0E-5CE2-7888-A707-A967FFE7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50738A-9C29-431E-315F-3F8E5608B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7" r="42026"/>
          <a:stretch>
            <a:fillRect/>
          </a:stretch>
        </p:blipFill>
        <p:spPr>
          <a:xfrm>
            <a:off x="539888" y="2088562"/>
            <a:ext cx="3741965" cy="24970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54F378-FBF0-8158-DC6E-F2EBFDCBA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215" y="1994925"/>
            <a:ext cx="3358253" cy="259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29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B26FA-197F-4CA3-DF8D-20BAC41D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ko-KR" sz="3200" dirty="0"/>
              <a:t>MDP</a:t>
            </a:r>
            <a:r>
              <a:rPr lang="ko-KR" altLang="en-US" sz="3200" dirty="0"/>
              <a:t>에서는 최적 정책이 적어도 하나는 존재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7287FB-1BCF-92CE-C2AE-F205CBCCC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ko-KR" altLang="ko-KR" b="1" dirty="0"/>
                  <a:t>1. 전제 조건: 경우의 수가 유한하다 (</a:t>
                </a:r>
                <a:r>
                  <a:rPr lang="ko-KR" altLang="ko-KR" b="1" dirty="0" err="1"/>
                  <a:t>Finiteness</a:t>
                </a:r>
                <a:r>
                  <a:rPr lang="ko-KR" altLang="ko-KR" b="1" dirty="0"/>
                  <a:t>)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dirty="0"/>
                  <a:t>MDP 환경에서 우리가 취할 수 있는 상태(State)의 수와 행동(</a:t>
                </a:r>
                <a:r>
                  <a:rPr lang="ko-KR" altLang="ko-KR" dirty="0" err="1"/>
                  <a:t>Action</a:t>
                </a:r>
                <a:r>
                  <a:rPr lang="ko-KR" altLang="ko-KR" dirty="0"/>
                  <a:t>)의 수가 유한하다고 가정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dirty="0"/>
                  <a:t>특정 상태에서 특정 행동을 하도록 </a:t>
                </a:r>
                <a:r>
                  <a:rPr lang="ko-KR" altLang="ko-KR" dirty="0" err="1"/>
                  <a:t>정해놓은</a:t>
                </a:r>
                <a:r>
                  <a:rPr lang="ko-KR" altLang="ko-KR" dirty="0"/>
                  <a:t> </a:t>
                </a:r>
                <a:r>
                  <a:rPr lang="ko-KR" altLang="ko-KR" b="1" dirty="0"/>
                  <a:t>'결정론적 </a:t>
                </a:r>
                <a:r>
                  <a:rPr lang="ko-KR" altLang="ko-KR" b="1" dirty="0" err="1"/>
                  <a:t>정책'의</a:t>
                </a:r>
                <a:r>
                  <a:rPr lang="ko-KR" altLang="ko-KR" b="1" dirty="0"/>
                  <a:t> 총개수도 유한</a:t>
                </a:r>
                <a:r>
                  <a:rPr lang="ko-KR" altLang="ko-KR" dirty="0"/>
                  <a:t>. (예: 상태가 10개, 행동이 2개면 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/>
                        </m:ctrlPr>
                      </m:sSupPr>
                      <m:e>
                        <m:r>
                          <a:rPr lang="ko-KR" altLang="en-US"/>
                          <m:t>2</m:t>
                        </m:r>
                      </m:e>
                      <m:sup>
                        <m:r>
                          <a:rPr lang="ko-KR" altLang="en-US"/>
                          <m:t>10</m:t>
                        </m:r>
                      </m:sup>
                    </m:sSup>
                    <m:r>
                      <a:rPr lang="ko-KR" altLang="en-US"/>
                      <m:t>=1024</m:t>
                    </m:r>
                  </m:oMath>
                </a14:m>
                <a:r>
                  <a:rPr lang="ko-KR" altLang="ko-KR" dirty="0"/>
                  <a:t>개의 정책이 존재)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ko-KR" altLang="ko-KR" b="1" dirty="0"/>
                  <a:t>2. 각 상태별로 '최고의 정책' 찾기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dirty="0"/>
                  <a:t>정책의 개수가 유한하기 때문에, 특정 상태에서 시작할 때 가장 높은 총 보상을 주는 정책을 무조건 하나 이상 찾을 수 있</a:t>
                </a:r>
                <a:r>
                  <a:rPr lang="ko-KR" altLang="en-US" dirty="0"/>
                  <a:t>음</a:t>
                </a:r>
                <a:endParaRPr lang="ko-KR" altLang="ko-KR" dirty="0"/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dirty="0"/>
                  <a:t>상태 </a:t>
                </a:r>
                <a:r>
                  <a:rPr lang="ko-KR" altLang="ko-KR" dirty="0" err="1"/>
                  <a:t>A에서</a:t>
                </a:r>
                <a:r>
                  <a:rPr lang="ko-KR" altLang="ko-KR" dirty="0"/>
                  <a:t> 출발할 때 가장 좋은 정책을 '정책 </a:t>
                </a:r>
                <a:r>
                  <a:rPr lang="ko-KR" altLang="ko-KR" dirty="0" err="1"/>
                  <a:t>X</a:t>
                </a:r>
                <a:r>
                  <a:rPr lang="ko-KR" altLang="ko-KR" dirty="0"/>
                  <a:t>'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dirty="0"/>
                  <a:t>상태 </a:t>
                </a:r>
                <a:r>
                  <a:rPr lang="ko-KR" altLang="ko-KR" dirty="0" err="1"/>
                  <a:t>B에서</a:t>
                </a:r>
                <a:r>
                  <a:rPr lang="ko-KR" altLang="ko-KR" dirty="0"/>
                  <a:t> 출발할 때 가장 좋은 정책을 '정책 </a:t>
                </a:r>
                <a:r>
                  <a:rPr lang="ko-KR" altLang="ko-KR" dirty="0" err="1"/>
                  <a:t>Y</a:t>
                </a:r>
                <a:r>
                  <a:rPr lang="ko-KR" altLang="ko-KR" dirty="0"/>
                  <a:t>'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ko-KR" altLang="ko-KR" b="1" dirty="0"/>
                  <a:t>3. 모든 상태에서 동시에 완벽한 단일 정책이 있을까?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dirty="0"/>
                  <a:t> "상태 </a:t>
                </a:r>
                <a:r>
                  <a:rPr lang="ko-KR" altLang="ko-KR" dirty="0" err="1"/>
                  <a:t>A에서는</a:t>
                </a:r>
                <a:r>
                  <a:rPr lang="ko-KR" altLang="ko-KR" dirty="0"/>
                  <a:t> 정책 </a:t>
                </a:r>
                <a:r>
                  <a:rPr lang="ko-KR" altLang="ko-KR" dirty="0" err="1"/>
                  <a:t>X가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최고고</a:t>
                </a:r>
                <a:r>
                  <a:rPr lang="ko-KR" altLang="ko-KR" dirty="0"/>
                  <a:t>, 상태 </a:t>
                </a:r>
                <a:r>
                  <a:rPr lang="ko-KR" altLang="ko-KR" dirty="0" err="1"/>
                  <a:t>B에서는</a:t>
                </a:r>
                <a:r>
                  <a:rPr lang="ko-KR" altLang="ko-KR" dirty="0"/>
                  <a:t> 정책 </a:t>
                </a:r>
                <a:r>
                  <a:rPr lang="ko-KR" altLang="ko-KR" dirty="0" err="1"/>
                  <a:t>Y가</a:t>
                </a:r>
                <a:r>
                  <a:rPr lang="ko-KR" altLang="ko-KR" dirty="0"/>
                  <a:t> 최고인데, 모든 상태에서 통용되는 '하나의 최적 </a:t>
                </a:r>
                <a:r>
                  <a:rPr lang="ko-KR" altLang="ko-KR" dirty="0" err="1"/>
                  <a:t>정책'이</a:t>
                </a:r>
                <a:r>
                  <a:rPr lang="ko-KR" altLang="ko-KR" dirty="0"/>
                  <a:t> 과연 존재할까?"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dirty="0"/>
                  <a:t>만약 정책 </a:t>
                </a:r>
                <a:r>
                  <a:rPr lang="ko-KR" altLang="ko-KR" dirty="0" err="1"/>
                  <a:t>X가</a:t>
                </a:r>
                <a:r>
                  <a:rPr lang="ko-KR" altLang="ko-KR" dirty="0"/>
                  <a:t> 상태 </a:t>
                </a:r>
                <a:r>
                  <a:rPr lang="ko-KR" altLang="ko-KR" dirty="0" err="1"/>
                  <a:t>B에서는</a:t>
                </a:r>
                <a:r>
                  <a:rPr lang="ko-KR" altLang="ko-KR" dirty="0"/>
                  <a:t> 형편없는 결과를 낸다면?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ko-KR" altLang="ko-KR" b="1" dirty="0"/>
                  <a:t>4. </a:t>
                </a:r>
                <a:r>
                  <a:rPr lang="ko-KR" altLang="ko-KR" b="1" dirty="0" err="1"/>
                  <a:t>마르코프</a:t>
                </a:r>
                <a:r>
                  <a:rPr lang="ko-KR" altLang="ko-KR" b="1" dirty="0"/>
                  <a:t> 성질과 '정책 갈아타기'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dirty="0"/>
                  <a:t>상태 </a:t>
                </a:r>
                <a:r>
                  <a:rPr lang="ko-KR" altLang="ko-KR" dirty="0" err="1"/>
                  <a:t>A에서</a:t>
                </a:r>
                <a:r>
                  <a:rPr lang="ko-KR" altLang="ko-KR" dirty="0"/>
                  <a:t> 출발해서 '정책 </a:t>
                </a:r>
                <a:r>
                  <a:rPr lang="ko-KR" altLang="ko-KR" dirty="0" err="1"/>
                  <a:t>X'를</a:t>
                </a:r>
                <a:r>
                  <a:rPr lang="ko-KR" altLang="ko-KR" dirty="0"/>
                  <a:t> 따라가다가 우연히 상태 </a:t>
                </a:r>
                <a:r>
                  <a:rPr lang="ko-KR" altLang="ko-KR" dirty="0" err="1"/>
                  <a:t>B에</a:t>
                </a:r>
                <a:r>
                  <a:rPr lang="ko-KR" altLang="ko-KR" dirty="0"/>
                  <a:t> 도착했다고 가정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dirty="0"/>
                  <a:t>우리는 이미 "상태 </a:t>
                </a:r>
                <a:r>
                  <a:rPr lang="ko-KR" altLang="ko-KR" dirty="0" err="1"/>
                  <a:t>B부터는</a:t>
                </a:r>
                <a:r>
                  <a:rPr lang="ko-KR" altLang="ko-KR" dirty="0"/>
                  <a:t> '정책 </a:t>
                </a:r>
                <a:r>
                  <a:rPr lang="ko-KR" altLang="ko-KR" dirty="0" err="1"/>
                  <a:t>Y'를</a:t>
                </a:r>
                <a:r>
                  <a:rPr lang="ko-KR" altLang="ko-KR" dirty="0"/>
                  <a:t> 따르는 것이 무조건 </a:t>
                </a:r>
                <a:r>
                  <a:rPr lang="ko-KR" altLang="ko-KR" dirty="0" err="1"/>
                  <a:t>최고"라는</a:t>
                </a:r>
                <a:r>
                  <a:rPr lang="ko-KR" altLang="ko-KR" dirty="0"/>
                  <a:t> 것을 알고 있</a:t>
                </a:r>
                <a:r>
                  <a:rPr lang="ko-KR" altLang="en-US" dirty="0"/>
                  <a:t>음</a:t>
                </a:r>
                <a:r>
                  <a:rPr lang="ko-KR" altLang="ko-KR" dirty="0"/>
                  <a:t>. 그렇다면 상태 </a:t>
                </a:r>
                <a:r>
                  <a:rPr lang="ko-KR" altLang="ko-KR" dirty="0" err="1"/>
                  <a:t>B에</a:t>
                </a:r>
                <a:r>
                  <a:rPr lang="ko-KR" altLang="ko-KR" dirty="0"/>
                  <a:t> 도착한 순간, 기존의 ' 정책 </a:t>
                </a:r>
                <a:r>
                  <a:rPr lang="ko-KR" altLang="ko-KR" dirty="0" err="1"/>
                  <a:t>X</a:t>
                </a:r>
                <a:r>
                  <a:rPr lang="ko-KR" altLang="ko-KR" dirty="0"/>
                  <a:t> ' 를 버리고 ' 정책 </a:t>
                </a:r>
                <a:r>
                  <a:rPr lang="ko-KR" altLang="ko-KR" dirty="0" err="1"/>
                  <a:t>Y</a:t>
                </a:r>
                <a:r>
                  <a:rPr lang="ko-KR" altLang="ko-KR" dirty="0"/>
                  <a:t> ' 로 갈아타는 </a:t>
                </a:r>
                <a:r>
                  <a:rPr lang="ko-KR" altLang="ko-KR" dirty="0">
                    <a:solidFill>
                      <a:srgbClr val="FF0000"/>
                    </a:solidFill>
                  </a:rPr>
                  <a:t>새로운 하이브리드 정책(정책 </a:t>
                </a:r>
                <a:r>
                  <a:rPr lang="ko-KR" altLang="ko-KR" dirty="0" err="1">
                    <a:solidFill>
                      <a:srgbClr val="FF0000"/>
                    </a:solidFill>
                  </a:rPr>
                  <a:t>Z</a:t>
                </a:r>
                <a:r>
                  <a:rPr lang="ko-KR" altLang="ko-KR" dirty="0">
                    <a:solidFill>
                      <a:srgbClr val="FF0000"/>
                    </a:solidFill>
                  </a:rPr>
                  <a:t>)을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만듦</a:t>
                </a:r>
                <a:endParaRPr lang="ko-KR" altLang="ko-KR" dirty="0">
                  <a:solidFill>
                    <a:srgbClr val="FF0000"/>
                  </a:solidFill>
                </a:endParaRPr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b="1" dirty="0"/>
                  <a:t>상태 </a:t>
                </a:r>
                <a:r>
                  <a:rPr lang="ko-KR" altLang="ko-KR" b="1" dirty="0" err="1"/>
                  <a:t>B의</a:t>
                </a:r>
                <a:r>
                  <a:rPr lang="ko-KR" altLang="ko-KR" b="1" dirty="0"/>
                  <a:t> 입장:</a:t>
                </a:r>
                <a:r>
                  <a:rPr lang="ko-KR" altLang="ko-KR" dirty="0"/>
                  <a:t> 무조건 가장 좋은 정책 </a:t>
                </a:r>
                <a:r>
                  <a:rPr lang="ko-KR" altLang="ko-KR" dirty="0" err="1"/>
                  <a:t>Y를</a:t>
                </a:r>
                <a:r>
                  <a:rPr lang="ko-KR" altLang="ko-KR" dirty="0"/>
                  <a:t> 따르게 되었으므로 결과가 최고가 </a:t>
                </a:r>
                <a:r>
                  <a:rPr lang="ko-KR" altLang="en-US" dirty="0"/>
                  <a:t>됨</a:t>
                </a:r>
                <a:endParaRPr lang="ko-KR" altLang="ko-KR" dirty="0"/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b="1" dirty="0"/>
                  <a:t>상태 </a:t>
                </a:r>
                <a:r>
                  <a:rPr lang="ko-KR" altLang="ko-KR" b="1" dirty="0" err="1"/>
                  <a:t>A의</a:t>
                </a:r>
                <a:r>
                  <a:rPr lang="ko-KR" altLang="ko-KR" b="1" dirty="0"/>
                  <a:t> 입장:</a:t>
                </a:r>
                <a:r>
                  <a:rPr lang="ko-KR" altLang="ko-KR" dirty="0"/>
                  <a:t> 원래 정책 </a:t>
                </a:r>
                <a:r>
                  <a:rPr lang="ko-KR" altLang="ko-KR" dirty="0" err="1"/>
                  <a:t>X를</a:t>
                </a:r>
                <a:r>
                  <a:rPr lang="ko-KR" altLang="ko-KR" dirty="0"/>
                  <a:t> 따를 때보다, 중간에 더 좋은 결과를 내는 </a:t>
                </a:r>
                <a:r>
                  <a:rPr lang="ko-KR" altLang="ko-KR" dirty="0" err="1"/>
                  <a:t>Y로</a:t>
                </a:r>
                <a:r>
                  <a:rPr lang="ko-KR" altLang="ko-KR" dirty="0"/>
                  <a:t> 갈아탔으므로 상태 </a:t>
                </a:r>
                <a:r>
                  <a:rPr lang="ko-KR" altLang="ko-KR" dirty="0" err="1"/>
                  <a:t>A에서</a:t>
                </a:r>
                <a:r>
                  <a:rPr lang="ko-KR" altLang="ko-KR" dirty="0"/>
                  <a:t> 출발했을 때의 기대 보상도 </a:t>
                </a:r>
                <a:r>
                  <a:rPr lang="ko-KR" altLang="ko-KR" b="1" dirty="0"/>
                  <a:t>이전보다 무조건 높아지거나 최소한 </a:t>
                </a:r>
                <a:r>
                  <a:rPr lang="ko-KR" altLang="ko-KR" b="1" dirty="0" err="1"/>
                  <a:t>같아</a:t>
                </a:r>
                <a:r>
                  <a:rPr lang="ko-KR" altLang="en-US" b="1" dirty="0" err="1"/>
                  <a:t>짐</a:t>
                </a:r>
                <a:endParaRPr lang="ko-KR" altLang="ko-KR" dirty="0"/>
              </a:p>
              <a:p>
                <a:pPr algn="just">
                  <a:lnSpc>
                    <a:spcPct val="120000"/>
                  </a:lnSpc>
                </a:pPr>
                <a:r>
                  <a:rPr lang="ko-KR" altLang="ko-KR" b="1" dirty="0"/>
                  <a:t>5. 최적 정책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ko-KR" altLang="ko-KR" dirty="0"/>
                  <a:t>어떤 </a:t>
                </a:r>
                <a:r>
                  <a:rPr lang="ko-KR" altLang="ko-KR" dirty="0" err="1"/>
                  <a:t>상태에서든</a:t>
                </a:r>
                <a:r>
                  <a:rPr lang="ko-KR" altLang="ko-KR" dirty="0"/>
                  <a:t> "여기에 도착하면 이 상태에서 제일 좋은 정책으로 </a:t>
                </a:r>
                <a:r>
                  <a:rPr lang="ko-KR" altLang="ko-KR" dirty="0" err="1"/>
                  <a:t>갈아탄다"는</a:t>
                </a:r>
                <a:r>
                  <a:rPr lang="ko-KR" altLang="ko-KR" dirty="0"/>
                  <a:t> 규칙을 끝없이 적용하여 새로운 정책을 계속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만듦</a:t>
                </a:r>
                <a:endParaRPr lang="ko-KR" altLang="ko-KR" dirty="0"/>
              </a:p>
              <a:p>
                <a:pPr algn="just">
                  <a:lnSpc>
                    <a:spcPct val="120000"/>
                  </a:lnSpc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7287FB-1BCF-92CE-C2AE-F205CBCCC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" t="-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F39760-F0C4-47C2-7159-957F9450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897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16F91-6AB0-C383-8BDD-A90D0A17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MDP </a:t>
            </a:r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A4CFE1-171A-A920-9186-9D7835AAC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29" y="2822330"/>
            <a:ext cx="8850201" cy="3514075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에이전트는 오른쪽이나 왼쪽으로 이동할 수 있음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상태 전이는 결정적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에이전트가 </a:t>
            </a:r>
            <a:r>
              <a:rPr lang="en-US" altLang="ko-KR" dirty="0"/>
              <a:t>L1</a:t>
            </a:r>
            <a:r>
              <a:rPr lang="ko-KR" altLang="en-US" dirty="0"/>
              <a:t>에서 </a:t>
            </a:r>
            <a:r>
              <a:rPr lang="en-US" altLang="ko-KR" dirty="0"/>
              <a:t>L2</a:t>
            </a:r>
            <a:r>
              <a:rPr lang="ko-KR" altLang="en-US" dirty="0"/>
              <a:t>로 이동하면 사과를 받아 </a:t>
            </a:r>
            <a:r>
              <a:rPr lang="en-US" altLang="ko-KR" dirty="0"/>
              <a:t>+1</a:t>
            </a:r>
            <a:r>
              <a:rPr lang="ko-KR" altLang="en-US" dirty="0"/>
              <a:t>의 보상을 얻음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에이전트가 </a:t>
            </a:r>
            <a:r>
              <a:rPr lang="en-US" altLang="ko-KR" dirty="0"/>
              <a:t>L2</a:t>
            </a:r>
            <a:r>
              <a:rPr lang="ko-KR" altLang="en-US" dirty="0"/>
              <a:t>에서 </a:t>
            </a:r>
            <a:r>
              <a:rPr lang="en-US" altLang="ko-KR" dirty="0"/>
              <a:t>L1</a:t>
            </a:r>
            <a:r>
              <a:rPr lang="ko-KR" altLang="en-US" dirty="0"/>
              <a:t>으로 이동하면 사과가 </a:t>
            </a:r>
            <a:r>
              <a:rPr lang="ko-KR" altLang="en-US" dirty="0" err="1"/>
              <a:t>다싱</a:t>
            </a:r>
            <a:r>
              <a:rPr lang="ko-KR" altLang="en-US" dirty="0"/>
              <a:t> 생성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벽에 부딪히면 </a:t>
            </a:r>
            <a:r>
              <a:rPr lang="en-US" altLang="ko-KR" dirty="0"/>
              <a:t>-1</a:t>
            </a:r>
            <a:r>
              <a:rPr lang="ko-KR" altLang="en-US" dirty="0"/>
              <a:t>의 보상을 얻음</a:t>
            </a:r>
            <a:r>
              <a:rPr lang="en-US" altLang="ko-KR" dirty="0"/>
              <a:t>. </a:t>
            </a:r>
          </a:p>
          <a:p>
            <a:pPr algn="just">
              <a:lnSpc>
                <a:spcPct val="100000"/>
              </a:lnSpc>
            </a:pPr>
            <a:r>
              <a:rPr lang="ko-KR" altLang="en-US" dirty="0"/>
              <a:t>지속적 과제임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4DC3BD-7CEB-24E8-0C7E-1A9E4C5F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A5F45F0-9C21-166B-3DE5-6804D8509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151" y="1240039"/>
            <a:ext cx="1879697" cy="130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4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79FAA-DC0F-2F84-D326-CDD5D5EC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백업 다이어그램</a:t>
            </a:r>
            <a:r>
              <a:rPr lang="en-US" altLang="ko-KR" dirty="0"/>
              <a:t>(backup diagram)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B0AD2E0-7374-1EB2-F58B-1F95F60C7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276" y="890857"/>
            <a:ext cx="1803493" cy="377209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6E495F-5A93-BEAF-6D43-5D0395A9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2066B6-2AA9-AD83-0550-C368BB975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73" y="830253"/>
            <a:ext cx="1879697" cy="13081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59F919-5DDF-6B2E-9729-7F31AE61714F}"/>
              </a:ext>
            </a:extLst>
          </p:cNvPr>
          <p:cNvSpPr txBox="1"/>
          <p:nvPr/>
        </p:nvSpPr>
        <p:spPr>
          <a:xfrm>
            <a:off x="4115309" y="1379892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에이전트의 정책이 결정적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3B49309-A6C4-94AB-3AF6-631920EF69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138" y="2611721"/>
            <a:ext cx="3581584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92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A8C3B-3A93-1CB3-961E-C0BBDC9C3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 정책 찾기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1FBAF99-8F1F-3284-B051-B0B86E9BF4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결정적 정책은 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ko-KR" altLang="en-US" dirty="0"/>
                  <a:t>개가 존재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이 중에 최적 정책이 존재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1FBAF99-8F1F-3284-B051-B0B86E9BF4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9E0AF1-8562-1944-79FB-AC82BC961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D57EF3-4D26-2B2C-B5E0-C33D50D89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39" y="1751085"/>
            <a:ext cx="2362321" cy="190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99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16228B98-46AB-36AA-2D94-DE16A9974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367" y="2896412"/>
            <a:ext cx="3852247" cy="299457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5D22FA9-15C3-1E93-356A-4F9AAE80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 정책 찾기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B6DD1F-D6CC-FE02-64B3-10DDE3C7E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altLang="ko-KR" sz="2000" dirty="0"/>
              </a:p>
              <a:p>
                <a:r>
                  <a:rPr lang="ko-KR" altLang="en-US" sz="2000" dirty="0"/>
                  <a:t>상태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2000" dirty="0"/>
                  <a:t>에서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/>
                  <a:t>의 상태 가치 함수</a:t>
                </a:r>
                <a:endParaRPr lang="en-US" altLang="ko-KR" sz="2000" dirty="0"/>
              </a:p>
              <a:p>
                <a:endParaRPr lang="en-US" altLang="ko-KR" sz="2000" dirty="0"/>
              </a:p>
              <a:p>
                <a:endParaRPr lang="en-US" altLang="ko-KR" sz="2000" dirty="0"/>
              </a:p>
              <a:p>
                <a:endParaRPr lang="en-US" altLang="ko-KR" sz="2000" dirty="0"/>
              </a:p>
              <a:p>
                <a:r>
                  <a:rPr lang="ko-KR" altLang="en-US" sz="2000" dirty="0"/>
                  <a:t>상태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ko-KR" altLang="en-US" sz="2000" dirty="0"/>
                  <a:t>에서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/>
                  <a:t>의 상태 가치 함수</a:t>
                </a:r>
              </a:p>
              <a:p>
                <a:endParaRPr lang="ko-KR" altLang="en-US" sz="20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B6DD1F-D6CC-FE02-64B3-10DDE3C7E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0D5CA5-1A14-6A7B-C7AB-6D32DD9E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2A08BF-7FA5-0533-BDAA-C515DA044ED8}"/>
                  </a:ext>
                </a:extLst>
              </p:cNvPr>
              <p:cNvSpPr txBox="1"/>
              <p:nvPr/>
            </p:nvSpPr>
            <p:spPr>
              <a:xfrm>
                <a:off x="-79660" y="2069134"/>
                <a:ext cx="5246809" cy="827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ko-KR" alt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0.9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+…=1−0.9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1+0.9+</m:t>
                          </m:r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0.9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1−0.9</m:t>
                          </m:r>
                        </m:den>
                      </m:f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US" altLang="ko-KR" sz="1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2A08BF-7FA5-0533-BDAA-C515DA044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660" y="2069134"/>
                <a:ext cx="5246809" cy="8272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74E37365-376A-EE08-F4CB-29E28E2C0B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75" r="29618" b="-5126"/>
          <a:stretch>
            <a:fillRect/>
          </a:stretch>
        </p:blipFill>
        <p:spPr>
          <a:xfrm>
            <a:off x="728298" y="783363"/>
            <a:ext cx="4513247" cy="65503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B6F90C1-F672-4D79-14AA-0C6DA7F22D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71"/>
          <a:stretch>
            <a:fillRect/>
          </a:stretch>
        </p:blipFill>
        <p:spPr>
          <a:xfrm>
            <a:off x="5241545" y="127261"/>
            <a:ext cx="1914368" cy="13034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704807B-89E2-C7AC-91AD-728FEBDDB7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59" r="20349"/>
          <a:stretch>
            <a:fillRect/>
          </a:stretch>
        </p:blipFill>
        <p:spPr>
          <a:xfrm>
            <a:off x="7299509" y="296008"/>
            <a:ext cx="1497196" cy="9659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473815-753D-E975-8A59-91C79A03B204}"/>
                  </a:ext>
                </a:extLst>
              </p:cNvPr>
              <p:cNvSpPr txBox="1"/>
              <p:nvPr/>
            </p:nvSpPr>
            <p:spPr>
              <a:xfrm>
                <a:off x="4926803" y="1783226"/>
                <a:ext cx="3121304" cy="8038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dirty="0"/>
                  <a:t>무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산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등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비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급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합</m:t>
                    </m:r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+…=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473815-753D-E975-8A59-91C79A03B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803" y="1783226"/>
                <a:ext cx="3121304" cy="803874"/>
              </a:xfrm>
              <a:prstGeom prst="rect">
                <a:avLst/>
              </a:prstGeom>
              <a:blipFill>
                <a:blip r:embed="rId8"/>
                <a:stretch>
                  <a:fillRect l="-4492" t="-91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68EE3E-CEFD-F58E-F548-FB50680BF854}"/>
                  </a:ext>
                </a:extLst>
              </p:cNvPr>
              <p:cNvSpPr txBox="1"/>
              <p:nvPr/>
            </p:nvSpPr>
            <p:spPr>
              <a:xfrm>
                <a:off x="-243525" y="3534822"/>
                <a:ext cx="5908960" cy="827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ko-KR" alt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0.9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+…=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−0.9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1+0.9+</m:t>
                          </m:r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0.9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1−0.9</m:t>
                          </m:r>
                        </m:den>
                      </m:f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altLang="ko-KR" sz="16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68EE3E-CEFD-F58E-F548-FB50680BF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3525" y="3534822"/>
                <a:ext cx="5908960" cy="8272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205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16569</TotalTime>
  <Words>1157</Words>
  <Application>Microsoft Office PowerPoint</Application>
  <PresentationFormat>화면 슬라이드 쇼(4:3)</PresentationFormat>
  <Paragraphs>170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맑은 고딕</vt:lpstr>
      <vt:lpstr>Arial</vt:lpstr>
      <vt:lpstr>Calibri</vt:lpstr>
      <vt:lpstr>Calibri Light</vt:lpstr>
      <vt:lpstr>Cambria Math</vt:lpstr>
      <vt:lpstr>Office 테마</vt:lpstr>
      <vt:lpstr>마르코프 결정 과정</vt:lpstr>
      <vt:lpstr>마르코프 결정 과정(Markov Decision Process)</vt:lpstr>
      <vt:lpstr>MDP의 상태전이</vt:lpstr>
      <vt:lpstr>새로운 환경</vt:lpstr>
      <vt:lpstr>에이전트와 환경의 상호작용</vt:lpstr>
      <vt:lpstr>환경과 에이전트를 수식으로</vt:lpstr>
      <vt:lpstr>상태전이(State transition)</vt:lpstr>
      <vt:lpstr>상태전이 확률의 예</vt:lpstr>
      <vt:lpstr>마르코프 성질(Markov Property)</vt:lpstr>
      <vt:lpstr>보상 함수 (reward function)</vt:lpstr>
      <vt:lpstr>에이전트의 정책(policy)</vt:lpstr>
      <vt:lpstr>MDP의 목표</vt:lpstr>
      <vt:lpstr>일회성 과제와 지속적 과제</vt:lpstr>
      <vt:lpstr>수익(return)</vt:lpstr>
      <vt:lpstr>상태 가치 함수(State-value function)</vt:lpstr>
      <vt:lpstr>최적 정책과 최적 가치 함수</vt:lpstr>
      <vt:lpstr>MDP에서는 최적 정책이 적어도 하나는 존재</vt:lpstr>
      <vt:lpstr>MDP 예제</vt:lpstr>
      <vt:lpstr>백업 다이어그램(backup diagram)</vt:lpstr>
      <vt:lpstr>최적 정책 찾기</vt:lpstr>
      <vt:lpstr>최적 정책 찾기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for 2-hop Labeling of Dynamic Directed Acyclic Graphs</dc:title>
  <dc:creator>Windows 사용자</dc:creator>
  <cp:lastModifiedBy>안진현</cp:lastModifiedBy>
  <cp:revision>536</cp:revision>
  <cp:lastPrinted>2016-10-13T23:42:19Z</cp:lastPrinted>
  <dcterms:created xsi:type="dcterms:W3CDTF">2016-09-30T16:23:03Z</dcterms:created>
  <dcterms:modified xsi:type="dcterms:W3CDTF">2026-09-11T07:13:49Z</dcterms:modified>
</cp:coreProperties>
</file>