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5" autoAdjust="0"/>
    <p:restoredTop sz="90406" autoAdjust="0"/>
  </p:normalViewPr>
  <p:slideViewPr>
    <p:cSldViewPr snapToGrid="0">
      <p:cViewPr varScale="1">
        <p:scale>
          <a:sx n="88" d="100"/>
          <a:sy n="88" d="100"/>
        </p:scale>
        <p:origin x="83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900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04E4A-07F7-4F02-B3E2-C3B5C1401BF2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A09A4-BA45-48FF-8C1A-293E53166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173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지도학습과의 차이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312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 플레이만 했을 때는 </a:t>
            </a:r>
            <a:r>
              <a:rPr lang="en-US" altLang="ko-KR" dirty="0"/>
              <a:t>b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더 좋을 것이라고 추정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461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52B8-7F35-474C-84E9-53F8FF3197BA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0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30" y="107548"/>
            <a:ext cx="8850201" cy="85836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5280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46504"/>
            <a:ext cx="2057400" cy="365125"/>
          </a:xfrm>
        </p:spPr>
        <p:txBody>
          <a:bodyPr/>
          <a:lstStyle/>
          <a:p>
            <a:fld id="{1A785F0D-20DD-4273-B9CA-041260E6C442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46504"/>
            <a:ext cx="30861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96739-B45B-5233-56A7-143CB010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44930" y="6446503"/>
            <a:ext cx="2057400" cy="365125"/>
          </a:xfr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B87E-A7EF-4ACA-9BDB-5D9094BF3EFF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5EAE-8CF8-47D1-8180-E1B5000A314B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8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8A37-152F-4C96-9DE6-4708DE41A156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8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1E15-0549-493B-9DD1-CC25D7B85CDA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7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D7B3-1556-4E73-A55D-61EE568CD906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0A5E-E5EA-48C2-B8E9-7C3EB5E6F552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3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2F73C-E35C-485D-8DBB-9E618EDD052C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45D1-34F0-40BF-8F53-7948A1A188B7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9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2575-9C60-45F5-B34E-AC321E4EFEC1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7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814AE1-3117-4EE0-A069-AF58D79E97B0}" type="datetime1">
              <a:rPr lang="ko-KR" altLang="en-US" smtClean="0"/>
              <a:t>2026-08-31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29522C62-A2CC-4D4B-B236-5A4E2840B6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955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41A3A7-1844-4861-8A25-948A63554618}" type="datetime1">
              <a:rPr lang="ko-KR" altLang="en-US" smtClean="0"/>
              <a:t>2026-08-31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005F6450-F049-4D29-A92C-0D9D1E715E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093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E93FD-76F7-4014-9EF6-7780B36380F8}" type="datetime1">
              <a:rPr lang="ko-KR" altLang="en-US" smtClean="0"/>
              <a:t>2026-08-31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DBF13599-2EB2-4F77-8517-1EB74F3E4D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36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63D1D4-B057-4AAA-9672-CCE53A692238}" type="datetime1">
              <a:rPr lang="ko-KR" altLang="en-US" smtClean="0"/>
              <a:t>2026-08-31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41178C87-A3B4-4516-BF8E-6B60B525655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730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3065C-782C-4112-9CED-1FE7AAC3A4D5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44BEB-34CB-469D-8313-83BA6B52212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338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0835" y="1122363"/>
            <a:ext cx="8800935" cy="2387600"/>
          </a:xfrm>
        </p:spPr>
        <p:txBody>
          <a:bodyPr anchor="ctr">
            <a:normAutofit/>
          </a:bodyPr>
          <a:lstStyle/>
          <a:p>
            <a:r>
              <a:rPr lang="ko-KR" altLang="en-US" sz="5400" dirty="0" err="1"/>
              <a:t>벤디트</a:t>
            </a:r>
            <a:r>
              <a:rPr lang="ko-KR" altLang="en-US" sz="5400" dirty="0"/>
              <a:t> 문제</a:t>
            </a:r>
            <a:br>
              <a:rPr lang="en-US" altLang="ko-KR" sz="5400" dirty="0"/>
            </a:br>
            <a:r>
              <a:rPr lang="en-US" altLang="ko-KR" sz="5400" dirty="0"/>
              <a:t>(Bandit Problem)</a:t>
            </a:r>
            <a:endParaRPr lang="en-US" altLang="ko-KR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altLang="ko-KR" sz="2800" dirty="0" err="1"/>
              <a:t>Jinhyun</a:t>
            </a:r>
            <a:r>
              <a:rPr lang="en-US" altLang="ko-KR" sz="2800" dirty="0"/>
              <a:t> </a:t>
            </a:r>
            <a:r>
              <a:rPr lang="en-US" altLang="ko-KR" sz="2800" dirty="0" err="1"/>
              <a:t>Ahn</a:t>
            </a:r>
            <a:endParaRPr lang="ko-KR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373252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EA966-E811-97F7-9E4F-DF3DC3909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강화학습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CC2138-4B27-4C10-B200-3DC5A79A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2400" dirty="0">
                <a:solidFill>
                  <a:srgbClr val="7030A0"/>
                </a:solidFill>
              </a:rPr>
              <a:t>에이전트</a:t>
            </a:r>
            <a:r>
              <a:rPr lang="en-US" altLang="ko-KR" sz="2400" dirty="0">
                <a:solidFill>
                  <a:srgbClr val="7030A0"/>
                </a:solidFill>
              </a:rPr>
              <a:t>(agent)</a:t>
            </a:r>
            <a:r>
              <a:rPr lang="en-US" altLang="ko-KR" sz="2400" dirty="0"/>
              <a:t>: </a:t>
            </a:r>
            <a:r>
              <a:rPr lang="ko-KR" altLang="en-US" sz="2400" dirty="0"/>
              <a:t>행동 주체</a:t>
            </a:r>
            <a:r>
              <a:rPr lang="en-US" altLang="ko-KR" sz="2400" dirty="0"/>
              <a:t> (e.g., </a:t>
            </a:r>
            <a:r>
              <a:rPr lang="ko-KR" altLang="en-US" sz="2400" dirty="0"/>
              <a:t>로봇</a:t>
            </a:r>
            <a:r>
              <a:rPr lang="en-US" altLang="ko-KR" sz="2400" dirty="0"/>
              <a:t>)</a:t>
            </a:r>
          </a:p>
          <a:p>
            <a:pPr algn="just">
              <a:lnSpc>
                <a:spcPct val="100000"/>
              </a:lnSpc>
            </a:pPr>
            <a:endParaRPr lang="en-US" altLang="ko-KR" sz="2400" dirty="0"/>
          </a:p>
          <a:p>
            <a:pPr algn="just">
              <a:lnSpc>
                <a:spcPct val="100000"/>
              </a:lnSpc>
            </a:pPr>
            <a:endParaRPr lang="en-US" altLang="ko-KR" sz="2400" dirty="0"/>
          </a:p>
          <a:p>
            <a:pPr algn="just">
              <a:lnSpc>
                <a:spcPct val="100000"/>
              </a:lnSpc>
            </a:pPr>
            <a:endParaRPr lang="en-US" altLang="ko-KR" sz="2400" dirty="0"/>
          </a:p>
          <a:p>
            <a:pPr algn="just">
              <a:lnSpc>
                <a:spcPct val="100000"/>
              </a:lnSpc>
            </a:pPr>
            <a:r>
              <a:rPr lang="ko-KR" altLang="en-US" sz="2400" dirty="0"/>
              <a:t>에이전트는 </a:t>
            </a:r>
            <a:r>
              <a:rPr lang="ko-KR" altLang="en-US" sz="2400" dirty="0">
                <a:solidFill>
                  <a:srgbClr val="7030A0"/>
                </a:solidFill>
              </a:rPr>
              <a:t>환경</a:t>
            </a:r>
            <a:r>
              <a:rPr lang="en-US" altLang="ko-KR" sz="2400" dirty="0">
                <a:solidFill>
                  <a:srgbClr val="7030A0"/>
                </a:solidFill>
              </a:rPr>
              <a:t>(environment)</a:t>
            </a:r>
            <a:r>
              <a:rPr lang="ko-KR" altLang="en-US" sz="2400" dirty="0"/>
              <a:t>에 놓여져</a:t>
            </a:r>
            <a:r>
              <a:rPr lang="en-US" altLang="ko-KR" sz="2400" dirty="0"/>
              <a:t>, </a:t>
            </a:r>
            <a:r>
              <a:rPr lang="ko-KR" altLang="en-US" sz="2400" dirty="0"/>
              <a:t>환경의 </a:t>
            </a:r>
            <a:r>
              <a:rPr lang="ko-KR" altLang="en-US" sz="2400" dirty="0">
                <a:solidFill>
                  <a:srgbClr val="7030A0"/>
                </a:solidFill>
              </a:rPr>
              <a:t>상태</a:t>
            </a:r>
            <a:r>
              <a:rPr lang="en-US" altLang="ko-KR" sz="2400" dirty="0">
                <a:solidFill>
                  <a:srgbClr val="7030A0"/>
                </a:solidFill>
              </a:rPr>
              <a:t>(state)</a:t>
            </a:r>
            <a:r>
              <a:rPr lang="ko-KR" altLang="en-US" sz="2400" dirty="0"/>
              <a:t>를 관찰하고</a:t>
            </a:r>
            <a:r>
              <a:rPr lang="en-US" altLang="ko-KR" sz="2400" dirty="0"/>
              <a:t>, </a:t>
            </a:r>
            <a:r>
              <a:rPr lang="ko-KR" altLang="en-US" sz="2400" dirty="0"/>
              <a:t>상태에 적합한 </a:t>
            </a:r>
            <a:r>
              <a:rPr lang="ko-KR" altLang="en-US" sz="2400" dirty="0">
                <a:solidFill>
                  <a:srgbClr val="7030A0"/>
                </a:solidFill>
              </a:rPr>
              <a:t>행동</a:t>
            </a:r>
            <a:r>
              <a:rPr lang="en-US" altLang="ko-KR" sz="2400" dirty="0">
                <a:solidFill>
                  <a:srgbClr val="7030A0"/>
                </a:solidFill>
              </a:rPr>
              <a:t>(action)</a:t>
            </a:r>
            <a:r>
              <a:rPr lang="ko-KR" altLang="en-US" sz="2400" dirty="0"/>
              <a:t>을 취함</a:t>
            </a:r>
            <a:endParaRPr lang="en-US" altLang="ko-KR" sz="2400" dirty="0"/>
          </a:p>
          <a:p>
            <a:pPr algn="just">
              <a:lnSpc>
                <a:spcPct val="100000"/>
              </a:lnSpc>
            </a:pPr>
            <a:r>
              <a:rPr lang="ko-KR" altLang="en-US" sz="2400" dirty="0"/>
              <a:t>행동을 취한 결과로  환경의 상태가 바뀜</a:t>
            </a:r>
            <a:endParaRPr lang="en-US" altLang="ko-KR" sz="2400" dirty="0"/>
          </a:p>
          <a:p>
            <a:pPr algn="just">
              <a:lnSpc>
                <a:spcPct val="100000"/>
              </a:lnSpc>
            </a:pPr>
            <a:r>
              <a:rPr lang="ko-KR" altLang="en-US" sz="2400" dirty="0"/>
              <a:t>에이전트는 환경으로부터 </a:t>
            </a:r>
            <a:r>
              <a:rPr lang="ko-KR" altLang="en-US" sz="2400" dirty="0">
                <a:solidFill>
                  <a:srgbClr val="7030A0"/>
                </a:solidFill>
              </a:rPr>
              <a:t>보상</a:t>
            </a:r>
            <a:r>
              <a:rPr lang="en-US" altLang="ko-KR" sz="2400" dirty="0">
                <a:solidFill>
                  <a:srgbClr val="7030A0"/>
                </a:solidFill>
              </a:rPr>
              <a:t>(reward)</a:t>
            </a:r>
            <a:r>
              <a:rPr lang="ko-KR" altLang="en-US" sz="2400" dirty="0"/>
              <a:t>을 받음</a:t>
            </a:r>
            <a:endParaRPr lang="en-US" altLang="ko-KR" sz="2400" dirty="0"/>
          </a:p>
          <a:p>
            <a:pPr lvl="1" algn="just">
              <a:lnSpc>
                <a:spcPct val="100000"/>
              </a:lnSpc>
            </a:pPr>
            <a:r>
              <a:rPr lang="ko-KR" altLang="en-US" sz="2000" i="1" dirty="0"/>
              <a:t>보상은 행동에 대한 피드백일뿐 지도학습의 레이블</a:t>
            </a:r>
            <a:r>
              <a:rPr lang="en-US" altLang="ko-KR" sz="2000" i="1" dirty="0"/>
              <a:t>(</a:t>
            </a:r>
            <a:r>
              <a:rPr lang="ko-KR" altLang="en-US" sz="2000" i="1" dirty="0"/>
              <a:t>정답</a:t>
            </a:r>
            <a:r>
              <a:rPr lang="en-US" altLang="ko-KR" sz="2000" i="1" dirty="0"/>
              <a:t>)</a:t>
            </a:r>
            <a:r>
              <a:rPr lang="ko-KR" altLang="en-US" sz="2000" i="1" dirty="0"/>
              <a:t>과 다름</a:t>
            </a:r>
            <a:endParaRPr lang="en-US" altLang="ko-KR" sz="2000" i="1" dirty="0"/>
          </a:p>
          <a:p>
            <a:pPr algn="just">
              <a:lnSpc>
                <a:spcPct val="100000"/>
              </a:lnSpc>
            </a:pPr>
            <a:endParaRPr lang="en-US" altLang="ko-KR" sz="2400" b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ko-KR" altLang="en-US" sz="2400" b="1" dirty="0">
                <a:solidFill>
                  <a:srgbClr val="FF0000"/>
                </a:solidFill>
              </a:rPr>
              <a:t>강화학습의 목표</a:t>
            </a:r>
            <a:r>
              <a:rPr lang="en-US" altLang="ko-KR" sz="2400" dirty="0"/>
              <a:t>: </a:t>
            </a:r>
            <a:r>
              <a:rPr lang="ko-KR" altLang="en-US" sz="2400" dirty="0"/>
              <a:t>에이전트가 얻는 보상의 총합을 극대화하는 행동 패턴을 익히는 것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867E24-D9E8-77B3-41FB-945420E83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542" y="1555518"/>
            <a:ext cx="4448779" cy="125169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DFEC09-9657-3A51-2383-A99C6D9A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142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EC3BF-248C-05EE-6407-299E83D1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강화학습의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0BA4E6-60CC-CBFA-475E-8071E862D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A6F100-61AF-60EA-4122-1E093F08B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62" y="1994664"/>
            <a:ext cx="6914875" cy="219342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4A9600-E4C3-A04C-FA28-6BEB4CAC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41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Hands-On-Reinforcement-Learning-With-Python/06. Multi-Armed Bandit Problem/6.1  MAB - Various Exploration Strategies.ipynb at master ·  sudharsan13296/Hands-On-Reinforcement-Learning-With-Python · GitHub">
            <a:extLst>
              <a:ext uri="{FF2B5EF4-FFF2-40B4-BE49-F238E27FC236}">
                <a16:creationId xmlns:a16="http://schemas.microsoft.com/office/drawing/2014/main" id="{70B59AB6-97B4-0E28-63AE-F4EA2FE4F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133" y="2278703"/>
            <a:ext cx="4029647" cy="187927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A199BEC-A103-398F-0522-048D3CE0D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밴디트</a:t>
            </a:r>
            <a:r>
              <a:rPr lang="ko-KR" altLang="en-US" dirty="0"/>
              <a:t> 문제</a:t>
            </a:r>
            <a:r>
              <a:rPr lang="en-US" altLang="ko-KR" dirty="0"/>
              <a:t>(bandit problem)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B09CA4-27C8-460D-6612-422707878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</a:pPr>
            <a:r>
              <a:rPr lang="ko-KR" altLang="en-US" dirty="0" err="1"/>
              <a:t>밴디트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슬롯머신</a:t>
            </a:r>
            <a:endParaRPr lang="en-US" altLang="ko-KR" dirty="0"/>
          </a:p>
          <a:p>
            <a:pPr lvl="1" algn="just">
              <a:lnSpc>
                <a:spcPct val="110000"/>
              </a:lnSpc>
            </a:pPr>
            <a:r>
              <a:rPr lang="ko-KR" altLang="en-US" dirty="0"/>
              <a:t>손잡이를 당기면 그림들이 한꺼번에 바뀌고</a:t>
            </a:r>
            <a:r>
              <a:rPr lang="en-US" altLang="ko-KR" dirty="0"/>
              <a:t>, </a:t>
            </a:r>
            <a:r>
              <a:rPr lang="ko-KR" altLang="en-US" dirty="0"/>
              <a:t>바뀐 그림들의 조합에 따라 얻는 코인의 액수가 </a:t>
            </a:r>
            <a:r>
              <a:rPr lang="ko-KR" altLang="en-US" dirty="0" err="1"/>
              <a:t>정해짐</a:t>
            </a: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endParaRPr lang="en-US" altLang="ko-KR" dirty="0"/>
          </a:p>
          <a:p>
            <a:pPr algn="just">
              <a:lnSpc>
                <a:spcPct val="110000"/>
              </a:lnSpc>
            </a:pPr>
            <a:r>
              <a:rPr lang="en-US" altLang="ko-KR" dirty="0"/>
              <a:t>Multi-armed bandit problem</a:t>
            </a:r>
          </a:p>
          <a:p>
            <a:pPr lvl="1" algn="just">
              <a:lnSpc>
                <a:spcPct val="110000"/>
              </a:lnSpc>
            </a:pPr>
            <a:endParaRPr lang="en-US" altLang="ko-KR" dirty="0"/>
          </a:p>
          <a:p>
            <a:pPr lvl="1" algn="just">
              <a:lnSpc>
                <a:spcPct val="110000"/>
              </a:lnSpc>
            </a:pPr>
            <a:endParaRPr lang="en-US" altLang="ko-KR" dirty="0"/>
          </a:p>
          <a:p>
            <a:pPr lvl="1" algn="just">
              <a:lnSpc>
                <a:spcPct val="110000"/>
              </a:lnSpc>
            </a:pPr>
            <a:r>
              <a:rPr lang="ko-KR" altLang="en-US" dirty="0"/>
              <a:t>행동 </a:t>
            </a:r>
            <a:r>
              <a:rPr lang="en-US" altLang="ko-KR" dirty="0"/>
              <a:t>= </a:t>
            </a:r>
            <a:r>
              <a:rPr lang="ko-KR" altLang="en-US" dirty="0"/>
              <a:t>여러 슬롯머신들 중 한 대를 선택</a:t>
            </a:r>
            <a:endParaRPr lang="en-US" altLang="ko-KR" dirty="0"/>
          </a:p>
          <a:p>
            <a:pPr lvl="1" algn="just">
              <a:lnSpc>
                <a:spcPct val="110000"/>
              </a:lnSpc>
            </a:pPr>
            <a:r>
              <a:rPr lang="ko-KR" altLang="en-US" dirty="0"/>
              <a:t>보상 </a:t>
            </a:r>
            <a:r>
              <a:rPr lang="en-US" altLang="ko-KR" dirty="0"/>
              <a:t>= </a:t>
            </a:r>
            <a:r>
              <a:rPr lang="ko-KR" altLang="en-US" dirty="0"/>
              <a:t>코인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6044D7-DCAE-489A-6173-F2F136B82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95"/>
          <a:stretch>
            <a:fillRect/>
          </a:stretch>
        </p:blipFill>
        <p:spPr>
          <a:xfrm>
            <a:off x="672840" y="4522187"/>
            <a:ext cx="4736778" cy="954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EAA22F-0830-D7AC-9041-AD16357C111C}"/>
              </a:ext>
            </a:extLst>
          </p:cNvPr>
          <p:cNvSpPr txBox="1"/>
          <p:nvPr/>
        </p:nvSpPr>
        <p:spPr>
          <a:xfrm>
            <a:off x="5500914" y="4416195"/>
            <a:ext cx="3280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/>
              <a:t>에이전트가 어떤 행동을 취하면 환경의 상태가 바뀜</a:t>
            </a:r>
            <a:endParaRPr lang="en-US" altLang="ko-KR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밴디트</a:t>
            </a:r>
            <a:r>
              <a:rPr lang="ko-KR" altLang="en-US" sz="1200" dirty="0"/>
              <a:t> 문제에서는 슬롯머신들의 확률 성정에 변화가 없음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AB44F0-AAF0-E24D-276B-22F20DFB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446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57783-EAB3-6AB0-6F89-F238DFDF6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좋은 슬롯머신이란</a:t>
            </a:r>
            <a:r>
              <a:rPr lang="en-US" altLang="ko-KR"/>
              <a:t>?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687DACF-A681-F509-15F5-F17C905521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ko-KR" altLang="en-US" sz="2400" dirty="0"/>
                  <a:t>슬롯머신이 두 대 있고 보상과 확률이 다음과 같이 설정</a:t>
                </a:r>
                <a:endParaRPr lang="en-US" altLang="ko-KR" sz="24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2400" dirty="0"/>
                  <a:t>수없이 많이 플레이하면 평균적으로 얻게 되는 코인 개수는 </a:t>
                </a:r>
                <a:r>
                  <a:rPr lang="ko-KR" altLang="en-US" sz="2400" dirty="0" err="1">
                    <a:solidFill>
                      <a:srgbClr val="7030A0"/>
                    </a:solidFill>
                  </a:rPr>
                  <a:t>기댓값</a:t>
                </a:r>
                <a:r>
                  <a:rPr lang="en-US" altLang="ko-KR" sz="2400" dirty="0">
                    <a:solidFill>
                      <a:srgbClr val="7030A0"/>
                    </a:solidFill>
                  </a:rPr>
                  <a:t>(expected</a:t>
                </a:r>
                <a:r>
                  <a:rPr lang="ko-KR" alt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ko-KR" sz="2400" dirty="0">
                    <a:solidFill>
                      <a:srgbClr val="7030A0"/>
                    </a:solidFill>
                  </a:rPr>
                  <a:t>value)</a:t>
                </a:r>
                <a:r>
                  <a:rPr lang="ko-KR" altLang="en-US" sz="2400" dirty="0"/>
                  <a:t>으로 수렴</a:t>
                </a:r>
                <a:endParaRPr lang="en-US" altLang="ko-KR" sz="24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2400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1800" dirty="0"/>
                  <a:t>슬롯머신 </a:t>
                </a:r>
                <a:r>
                  <a:rPr lang="en-US" altLang="ko-KR" sz="1800" dirty="0"/>
                  <a:t>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×0.70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0.15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×0.1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03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𝟎𝟓</m:t>
                    </m:r>
                  </m:oMath>
                </a14:m>
                <a:endParaRPr lang="en-US" altLang="ko-KR" sz="1800" b="1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1800" dirty="0"/>
                  <a:t>슬롯머신 </a:t>
                </a:r>
                <a:r>
                  <a:rPr lang="en-US" altLang="ko-KR" sz="1800" dirty="0"/>
                  <a:t>b: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1×0.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5×0.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09</m:t>
                        </m:r>
                      </m:e>
                    </m:d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10×0.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𝟗𝟓</m:t>
                    </m:r>
                  </m:oMath>
                </a14:m>
                <a:endParaRPr lang="en-US" altLang="ko-KR" sz="1800" b="1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18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687DACF-A681-F509-15F5-F17C905521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4" t="-924" r="-1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FA4C857B-6C8B-D1F1-985C-9B760C861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244" y="1746753"/>
            <a:ext cx="6045511" cy="11938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068C99-4A31-2FD3-8935-8A79A7D0CE1D}"/>
              </a:ext>
            </a:extLst>
          </p:cNvPr>
          <p:cNvSpPr txBox="1"/>
          <p:nvPr/>
        </p:nvSpPr>
        <p:spPr>
          <a:xfrm>
            <a:off x="3071268" y="2940614"/>
            <a:ext cx="39997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i="1" dirty="0"/>
              <a:t>보통을 이런 확률분포를 플레이어가 알 수 없음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FBA875-37AD-ABA4-DCA3-7D7A2465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74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3617B-85FB-E508-3343-A4802599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수식으로 표현하기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C783BFB-D176-388C-970C-1AD49750A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altLang="ko-KR" sz="1800" dirty="0"/>
                  <a:t>Reward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={0, 1, 5, 10}</m:t>
                    </m:r>
                  </m:oMath>
                </a14:m>
                <a:endParaRPr lang="en-US" altLang="ko-KR" sz="1800" dirty="0"/>
              </a:p>
              <a:p>
                <a:pPr lvl="1" algn="just">
                  <a:lnSpc>
                    <a:spcPct val="100000"/>
                  </a:lnSpc>
                </a:pPr>
                <a:r>
                  <a:rPr lang="ko-KR" altLang="en-US" sz="1600" dirty="0"/>
                  <a:t>얻는 코인의 개수</a:t>
                </a:r>
                <a:endParaRPr lang="en-US" altLang="ko-KR" sz="1600" dirty="0"/>
              </a:p>
              <a:p>
                <a:pPr lvl="1" algn="just">
                  <a:lnSpc>
                    <a:spcPct val="100000"/>
                  </a:lnSpc>
                </a:pPr>
                <a:r>
                  <a:rPr lang="ko-KR" altLang="en-US" sz="1600" dirty="0"/>
                  <a:t>확률변수</a:t>
                </a:r>
                <a:r>
                  <a:rPr lang="en-US" altLang="ko-KR" sz="1600" dirty="0"/>
                  <a:t>(random variable): </a:t>
                </a:r>
                <a:r>
                  <a:rPr lang="ko-KR" altLang="en-US" sz="1600" dirty="0"/>
                  <a:t>얻는 값이 확률적으로 결정</a:t>
                </a:r>
                <a:endParaRPr lang="en-US" altLang="ko-KR" sz="16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1800" dirty="0"/>
              </a:p>
              <a:p>
                <a:pPr algn="just">
                  <a:lnSpc>
                    <a:spcPct val="100000"/>
                  </a:lnSpc>
                </a:pPr>
                <a:r>
                  <a:rPr lang="en-US" altLang="ko-KR" sz="1800" dirty="0"/>
                  <a:t>Action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sz="1800" dirty="0"/>
              </a:p>
              <a:p>
                <a:pPr lvl="1" algn="just">
                  <a:lnSpc>
                    <a:spcPct val="100000"/>
                  </a:lnSpc>
                </a:pPr>
                <a:r>
                  <a:rPr lang="ko-KR" altLang="en-US" sz="1600" dirty="0"/>
                  <a:t>슬롯머신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또는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600" dirty="0"/>
                  <a:t>를 선택</a:t>
                </a:r>
                <a:endParaRPr lang="en-US" altLang="ko-KR" sz="16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1800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800" i="1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0" dirty="0"/>
                  <a:t> : Action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ko-KR" altLang="en-US" sz="1800" i="1" smtClean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800" dirty="0"/>
                  <a:t> </a:t>
                </a:r>
                <a:r>
                  <a:rPr lang="ko-KR" altLang="en-US" sz="1800" dirty="0">
                    <a:solidFill>
                      <a:srgbClr val="7030A0"/>
                    </a:solidFill>
                  </a:rPr>
                  <a:t>행동 가치</a:t>
                </a:r>
                <a:r>
                  <a:rPr lang="en-US" altLang="ko-KR" sz="1800" dirty="0">
                    <a:solidFill>
                      <a:srgbClr val="7030A0"/>
                    </a:solidFill>
                  </a:rPr>
                  <a:t>(action value) </a:t>
                </a:r>
                <a:r>
                  <a:rPr lang="ko-KR" altLang="en-US" sz="1800" dirty="0"/>
                  <a:t>또는 보상 </a:t>
                </a:r>
                <a:r>
                  <a:rPr lang="ko-KR" altLang="en-US" sz="1800" dirty="0" err="1"/>
                  <a:t>기댓값</a:t>
                </a:r>
                <a:r>
                  <a:rPr lang="en-US" altLang="ko-KR" sz="1800" dirty="0"/>
                  <a:t>(expectation)</a:t>
                </a:r>
              </a:p>
              <a:p>
                <a:pPr lvl="1" algn="just">
                  <a:lnSpc>
                    <a:spcPct val="100000"/>
                  </a:lnSpc>
                </a:pPr>
                <a:r>
                  <a:rPr lang="en-US" altLang="ko-KR" sz="1400" b="0" dirty="0">
                    <a:latin typeface="Cambria Math" panose="02040503050406030204" pitchFamily="18" charset="0"/>
                  </a:rPr>
                  <a:t>Q</a:t>
                </a:r>
                <a:r>
                  <a:rPr lang="ko-KR" altLang="en-US" sz="1400" b="0" dirty="0">
                    <a:latin typeface="Cambria Math" panose="02040503050406030204" pitchFamily="18" charset="0"/>
                  </a:rPr>
                  <a:t>는 </a:t>
                </a:r>
                <a:r>
                  <a:rPr lang="en-US" altLang="ko-KR" sz="1400" b="0" dirty="0">
                    <a:latin typeface="Cambria Math" panose="02040503050406030204" pitchFamily="18" charset="0"/>
                  </a:rPr>
                  <a:t>Quality</a:t>
                </a:r>
                <a:r>
                  <a:rPr lang="ko-KR" altLang="en-US" sz="1400" b="0" dirty="0">
                    <a:latin typeface="Cambria Math" panose="02040503050406030204" pitchFamily="18" charset="0"/>
                  </a:rPr>
                  <a:t>의 머리글자</a:t>
                </a:r>
                <a:endParaRPr lang="en-US" altLang="ko-KR" sz="1400" b="0" dirty="0">
                  <a:latin typeface="Cambria Math" panose="02040503050406030204" pitchFamily="18" charset="0"/>
                </a:endParaRPr>
              </a:p>
              <a:p>
                <a:pPr lvl="1"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ko-KR" sz="1400" dirty="0"/>
                  <a:t> : </a:t>
                </a:r>
                <a:r>
                  <a:rPr lang="ko-KR" altLang="en-US" sz="1400" dirty="0"/>
                  <a:t>대문자일 경우 추정치를 의미</a:t>
                </a:r>
                <a:endParaRPr lang="en-US" altLang="ko-KR" sz="1400" dirty="0"/>
              </a:p>
              <a:p>
                <a:pPr lvl="1"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행동을 선택했을 때의 보상 </a:t>
                </a:r>
                <a:r>
                  <a:rPr lang="ko-KR" altLang="en-US" sz="1400" dirty="0" err="1"/>
                  <a:t>기댓값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: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또는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400" dirty="0"/>
              </a:p>
              <a:p>
                <a:pPr algn="just">
                  <a:lnSpc>
                    <a:spcPct val="100000"/>
                  </a:lnSpc>
                </a:pPr>
                <a:endParaRPr lang="ko-KR" altLang="en-US" sz="18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C783BFB-D176-388C-970C-1AD49750A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2" t="-5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D2F58-7B48-5F59-51FE-6D374D521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01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14D0A8-2B9F-254D-F4AB-8C1180D68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밴디트</a:t>
            </a:r>
            <a:r>
              <a:rPr lang="ko-KR" altLang="en-US" dirty="0"/>
              <a:t> 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C99A3B-31BC-752F-F995-EE9D09744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만약 각 슬롯머신의 가치</a:t>
            </a:r>
            <a:r>
              <a:rPr lang="en-US" altLang="ko-KR" dirty="0"/>
              <a:t>(</a:t>
            </a:r>
            <a:r>
              <a:rPr lang="ko-KR" altLang="en-US" dirty="0"/>
              <a:t>보상 </a:t>
            </a:r>
            <a:r>
              <a:rPr lang="ko-KR" altLang="en-US" dirty="0" err="1"/>
              <a:t>기댓값</a:t>
            </a:r>
            <a:r>
              <a:rPr lang="en-US" altLang="ko-KR" dirty="0"/>
              <a:t>)</a:t>
            </a:r>
            <a:r>
              <a:rPr lang="ko-KR" altLang="en-US" dirty="0"/>
              <a:t>을 알면 플레이어는 가장 좋은 슬롯머신을 고를 수 있음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그러나 플레이어는 각 슬롯머신의 가치를 알 수 없음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따라서 플레이어는 각 슬롯머신의 가치를 추정해야 함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예를 들어</a:t>
            </a:r>
            <a:r>
              <a:rPr lang="en-US" altLang="ko-KR" dirty="0"/>
              <a:t>, </a:t>
            </a:r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어떤 슬롯머신을 플레이한 후 코인 </a:t>
            </a:r>
            <a:r>
              <a:rPr lang="en-US" altLang="ko-KR" dirty="0"/>
              <a:t>1</a:t>
            </a:r>
            <a:r>
              <a:rPr lang="ko-KR" altLang="en-US" dirty="0"/>
              <a:t>개를 얻었음</a:t>
            </a:r>
            <a:endParaRPr lang="en-US" altLang="ko-KR" dirty="0"/>
          </a:p>
          <a:p>
            <a:pPr lvl="1" algn="just">
              <a:lnSpc>
                <a:spcPct val="100000"/>
              </a:lnSpc>
            </a:pPr>
            <a:r>
              <a:rPr lang="ko-KR" altLang="en-US" dirty="0"/>
              <a:t>코인 </a:t>
            </a:r>
            <a:r>
              <a:rPr lang="en-US" altLang="ko-KR" dirty="0"/>
              <a:t>1</a:t>
            </a:r>
            <a:r>
              <a:rPr lang="ko-KR" altLang="en-US" dirty="0"/>
              <a:t>개는 단서일 뿐이고 이 보상을 단서로 삼아 플레이어 스스로 추론하고 판단해야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74A0E8-538A-66AA-C2AC-87504EF5C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592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B10C5-71EF-EB54-DED8-2E105F6F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밴디트</a:t>
            </a:r>
            <a:r>
              <a:rPr lang="ko-KR" altLang="en-US" dirty="0"/>
              <a:t> 알고리즘 </a:t>
            </a:r>
            <a:r>
              <a:rPr lang="en-US" altLang="ko-KR" dirty="0"/>
              <a:t>– </a:t>
            </a:r>
            <a:r>
              <a:rPr lang="ko-KR" altLang="en-US" dirty="0"/>
              <a:t>가치추정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0878F87-ED0E-EEE6-CB64-5AC1F7A8B2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129" y="2773110"/>
                <a:ext cx="8850201" cy="3563296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en-US" altLang="ko-KR" dirty="0"/>
                  <a:t>Action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dirty="0"/>
                  <a:t>의 가</a:t>
                </a:r>
                <a14:m>
                  <m:oMath xmlns:m="http://schemas.openxmlformats.org/officeDocument/2006/math">
                    <m:r>
                      <a:rPr lang="ko-KR" altLang="en-US" b="0" i="1" dirty="0">
                        <a:latin typeface="Cambria Math" panose="02040503050406030204" pitchFamily="18" charset="0"/>
                      </a:rPr>
                      <m:t>치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추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정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치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0+1+5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altLang="ko-KR" dirty="0"/>
              </a:p>
              <a:p>
                <a:pPr algn="just">
                  <a:lnSpc>
                    <a:spcPct val="110000"/>
                  </a:lnSpc>
                </a:pPr>
                <a:r>
                  <a:rPr lang="en-US" altLang="ko-KR" dirty="0"/>
                  <a:t>Action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dirty="0"/>
                  <a:t>의 가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치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추정치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0.33…</m:t>
                    </m:r>
                  </m:oMath>
                </a14:m>
                <a:endParaRPr lang="en-US" altLang="ko-KR" dirty="0"/>
              </a:p>
              <a:p>
                <a:pPr algn="just">
                  <a:lnSpc>
                    <a:spcPct val="110000"/>
                  </a:lnSpc>
                </a:pPr>
                <a:endParaRPr lang="en-US" altLang="ko-KR" dirty="0"/>
              </a:p>
              <a:p>
                <a:pPr algn="just">
                  <a:lnSpc>
                    <a:spcPct val="110000"/>
                  </a:lnSpc>
                </a:pPr>
                <a:r>
                  <a:rPr lang="ko-KR" altLang="en-US" dirty="0"/>
                  <a:t>표본 평균</a:t>
                </a:r>
                <a:r>
                  <a:rPr lang="en-US" altLang="ko-KR" dirty="0"/>
                  <a:t>(sample mean): </a:t>
                </a:r>
                <a:r>
                  <a:rPr lang="ko-KR" altLang="en-US" dirty="0"/>
                  <a:t>실제 획득한 보상의 평균</a:t>
                </a:r>
                <a:endParaRPr lang="en-US" altLang="ko-KR" dirty="0"/>
              </a:p>
              <a:p>
                <a:pPr algn="just">
                  <a:lnSpc>
                    <a:spcPct val="110000"/>
                  </a:lnSpc>
                </a:pPr>
                <a:r>
                  <a:rPr lang="ko-KR" altLang="en-US" dirty="0"/>
                  <a:t>큰 수의 법칙</a:t>
                </a:r>
                <a:r>
                  <a:rPr lang="en-US" altLang="ko-KR" dirty="0"/>
                  <a:t>(law of large numbers): </a:t>
                </a:r>
                <a:r>
                  <a:rPr lang="ko-KR" altLang="en-US" dirty="0"/>
                  <a:t>표본 평균은 샘플링 횟수가 늘어날 수록 </a:t>
                </a:r>
                <a:r>
                  <a:rPr lang="ko-KR" altLang="en-US" dirty="0" err="1"/>
                  <a:t>실제값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보상의 </a:t>
                </a:r>
                <a:r>
                  <a:rPr lang="ko-KR" altLang="en-US" dirty="0" err="1"/>
                  <a:t>기댓값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에 </a:t>
                </a:r>
                <a:r>
                  <a:rPr lang="ko-KR" altLang="en-US" dirty="0" err="1"/>
                  <a:t>가까워짐</a:t>
                </a:r>
                <a:endParaRPr lang="en-US" altLang="ko-KR" dirty="0"/>
              </a:p>
              <a:p>
                <a:pPr algn="just">
                  <a:lnSpc>
                    <a:spcPct val="110000"/>
                  </a:lnSpc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0878F87-ED0E-EEE6-CB64-5AC1F7A8B2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129" y="2773110"/>
                <a:ext cx="8850201" cy="3563296"/>
              </a:xfrm>
              <a:blipFill>
                <a:blip r:embed="rId3"/>
                <a:stretch>
                  <a:fillRect l="-1102" r="-12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F37FC57E-31D6-7379-AF86-8B9EAD499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700" y="965915"/>
            <a:ext cx="4407126" cy="14097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055C16-D5A0-E5CA-1C7D-AC1A85F83A4A}"/>
              </a:ext>
            </a:extLst>
          </p:cNvPr>
          <p:cNvSpPr txBox="1"/>
          <p:nvPr/>
        </p:nvSpPr>
        <p:spPr>
          <a:xfrm>
            <a:off x="6372880" y="1877662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얻은 코인의 개수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03668E-4972-B80A-AABE-D281F445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272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9A644-1008-C228-DFD6-E1ABF4382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평균을 구하는 코드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4EC7F70-E144-D08A-27A1-B88F2C12F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1800" dirty="0"/>
                  <a:t>하나의 행동</a:t>
                </a:r>
                <a:r>
                  <a:rPr lang="en-US" altLang="ko-KR" sz="1800" dirty="0"/>
                  <a:t>(</a:t>
                </a:r>
                <a:r>
                  <a:rPr lang="ko-KR" altLang="en-US" sz="1800" dirty="0"/>
                  <a:t>슬롯머신 한 대만 선택</a:t>
                </a:r>
                <a:r>
                  <a:rPr lang="en-US" altLang="ko-KR" sz="1800" dirty="0"/>
                  <a:t>)</a:t>
                </a:r>
                <a:r>
                  <a:rPr lang="ko-KR" altLang="en-US" sz="1800" dirty="0"/>
                  <a:t>만을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800" dirty="0"/>
                  <a:t>번 플레이했을 때의 행동 가치 추정치</a:t>
                </a:r>
                <a:endParaRPr lang="en-US" altLang="ko-KR" sz="1800" dirty="0"/>
              </a:p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800" dirty="0"/>
                  <a:t>개의 보상에 대한 표본 평균</a:t>
                </a:r>
                <a:endParaRPr lang="en-US" altLang="ko-KR" sz="1800" dirty="0"/>
              </a:p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endParaRPr lang="ko-KR" altLang="en-US" sz="18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4EC7F70-E144-D08A-27A1-B88F2C12F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2" t="-11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1AF3A-29DF-07EA-49DF-3E122308E947}"/>
                  </a:ext>
                </a:extLst>
              </p:cNvPr>
              <p:cNvSpPr txBox="1"/>
              <p:nvPr/>
            </p:nvSpPr>
            <p:spPr>
              <a:xfrm>
                <a:off x="2189859" y="1382085"/>
                <a:ext cx="3228175" cy="610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…+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1AF3A-29DF-07EA-49DF-3E122308E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859" y="1382085"/>
                <a:ext cx="3228175" cy="610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509EA50F-EC34-5E60-B91F-3240F920C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318" y="2211570"/>
            <a:ext cx="3959334" cy="38474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44ECCD-989E-275D-29EF-EAFE9AB3AB2F}"/>
              </a:ext>
            </a:extLst>
          </p:cNvPr>
          <p:cNvSpPr txBox="1"/>
          <p:nvPr/>
        </p:nvSpPr>
        <p:spPr>
          <a:xfrm>
            <a:off x="5181220" y="4524147"/>
            <a:ext cx="3844942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FF0000"/>
                </a:solidFill>
              </a:rPr>
              <a:t>플레이 횟수가 늘어날수록 메모리와 </a:t>
            </a:r>
            <a:r>
              <a:rPr lang="ko-KR" altLang="en-US" sz="1800" dirty="0" err="1">
                <a:solidFill>
                  <a:srgbClr val="FF0000"/>
                </a:solidFill>
              </a:rPr>
              <a:t>계산량이</a:t>
            </a:r>
            <a:r>
              <a:rPr lang="ko-KR" altLang="en-US" sz="1800" dirty="0">
                <a:solidFill>
                  <a:srgbClr val="FF0000"/>
                </a:solidFill>
              </a:rPr>
              <a:t> 커짐</a:t>
            </a:r>
            <a:endParaRPr lang="en-US" altLang="ko-KR" sz="1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4D618F-CC27-D714-B336-3E93DBE26DC4}"/>
                  </a:ext>
                </a:extLst>
              </p:cNvPr>
              <p:cNvSpPr txBox="1"/>
              <p:nvPr/>
            </p:nvSpPr>
            <p:spPr>
              <a:xfrm>
                <a:off x="6023643" y="1687521"/>
                <a:ext cx="286424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dirty="0"/>
                  <a:t>:= </a:t>
                </a:r>
                <a:r>
                  <a:rPr lang="en-US" altLang="ko-KR" sz="1600" dirty="0" err="1"/>
                  <a:t>i</a:t>
                </a:r>
                <a:r>
                  <a:rPr lang="ko-KR" altLang="en-US" sz="1600" dirty="0"/>
                  <a:t>번째 플레이 시 받는 보상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4D618F-CC27-D714-B336-3E93DBE26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643" y="1687521"/>
                <a:ext cx="2864241" cy="338554"/>
              </a:xfrm>
              <a:prstGeom prst="rect">
                <a:avLst/>
              </a:prstGeom>
              <a:blipFill>
                <a:blip r:embed="rId5"/>
                <a:stretch>
                  <a:fillRect t="-7273" r="-213" b="-2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62FE50-733A-9E8A-3937-F03F0E64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445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8BD1E-EC73-ABD9-4CDF-8DCFFA8C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평균을 구하는 코드를 개선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D79FF8F-F5A9-0FC9-B05D-DD0DC974BE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sz="2000" dirty="0"/>
                  <a:t> </a:t>
                </a:r>
                <a:r>
                  <a:rPr lang="ko-KR" altLang="en-US" sz="2000" dirty="0"/>
                  <a:t>번째 시점의 행동 가치 추정치</a:t>
                </a:r>
                <a:endParaRPr lang="en-US" altLang="ko-KR" sz="20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20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2000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2000" dirty="0"/>
                  <a:t>양변에 </a:t>
                </a:r>
                <a:r>
                  <a:rPr lang="en-US" altLang="ko-KR" sz="2000" dirty="0"/>
                  <a:t>(n-1)</a:t>
                </a:r>
                <a:r>
                  <a:rPr lang="ko-KR" altLang="en-US" sz="2000" dirty="0"/>
                  <a:t>을 곱함</a:t>
                </a:r>
                <a:endParaRPr lang="en-US" altLang="ko-KR" sz="20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2000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000" dirty="0"/>
                  <a:t>을 다시 작성하여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ko-KR" altLang="en-US" sz="2000" dirty="0"/>
                  <a:t>의 관계 도출</a:t>
                </a:r>
              </a:p>
              <a:p>
                <a:pPr algn="just">
                  <a:lnSpc>
                    <a:spcPct val="100000"/>
                  </a:lnSpc>
                </a:pPr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D79FF8F-F5A9-0FC9-B05D-DD0DC974BE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0" t="-5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58B56B-29FF-C09D-27F1-9D8056A19885}"/>
                  </a:ext>
                </a:extLst>
              </p:cNvPr>
              <p:cNvSpPr txBox="1"/>
              <p:nvPr/>
            </p:nvSpPr>
            <p:spPr>
              <a:xfrm>
                <a:off x="1818117" y="1600275"/>
                <a:ext cx="4619002" cy="610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…+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58B56B-29FF-C09D-27F1-9D8056A19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117" y="1600275"/>
                <a:ext cx="4619002" cy="610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825490-5872-076A-F77D-69E5D529B3B6}"/>
                  </a:ext>
                </a:extLst>
              </p:cNvPr>
              <p:cNvSpPr txBox="1"/>
              <p:nvPr/>
            </p:nvSpPr>
            <p:spPr>
              <a:xfrm>
                <a:off x="2036034" y="2794004"/>
                <a:ext cx="46190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825490-5872-076A-F77D-69E5D529B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034" y="2794004"/>
                <a:ext cx="4619002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04E2CD5B-8D22-0865-4571-97FBD6BC4F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64" r="10536"/>
          <a:stretch>
            <a:fillRect/>
          </a:stretch>
        </p:blipFill>
        <p:spPr>
          <a:xfrm>
            <a:off x="444381" y="3784396"/>
            <a:ext cx="4221624" cy="23110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F443CC-759F-78AC-73C6-DD714F49808A}"/>
              </a:ext>
            </a:extLst>
          </p:cNvPr>
          <p:cNvSpPr txBox="1"/>
          <p:nvPr/>
        </p:nvSpPr>
        <p:spPr>
          <a:xfrm>
            <a:off x="6148698" y="2794004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식 </a:t>
            </a:r>
            <a:r>
              <a:rPr lang="en-US" altLang="ko-KR" dirty="0"/>
              <a:t>1.2]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DDB346-B779-987A-3F67-63A0EF689FFD}"/>
              </a:ext>
            </a:extLst>
          </p:cNvPr>
          <p:cNvSpPr/>
          <p:nvPr/>
        </p:nvSpPr>
        <p:spPr>
          <a:xfrm>
            <a:off x="487926" y="3948157"/>
            <a:ext cx="346106" cy="3589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EFFB94-0874-5F69-34B2-DC904CCDEFA8}"/>
              </a:ext>
            </a:extLst>
          </p:cNvPr>
          <p:cNvSpPr/>
          <p:nvPr/>
        </p:nvSpPr>
        <p:spPr>
          <a:xfrm>
            <a:off x="1718520" y="5712201"/>
            <a:ext cx="452927" cy="3589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A1C705-5CDA-B88F-80E6-ABCC23C5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815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2F31C04-7DA5-8CC7-1831-79BE4B7A9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63"/>
          <a:stretch>
            <a:fillRect/>
          </a:stretch>
        </p:blipFill>
        <p:spPr>
          <a:xfrm>
            <a:off x="4785627" y="2910063"/>
            <a:ext cx="3670489" cy="17862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AE2A904-3C49-4E94-3776-72794219B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증분 구현</a:t>
            </a:r>
            <a:r>
              <a:rPr lang="en-US" altLang="ko-KR" dirty="0"/>
              <a:t>(incremental implementation)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48F819F-2310-8941-F4A7-5605E0E9B1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35943" y="756940"/>
                <a:ext cx="6266388" cy="169567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11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100" dirty="0">
                    <a:latin typeface="Cambria Math" panose="02040503050406030204" pitchFamily="18" charset="0"/>
                  </a:rPr>
                  <a:t>: </a:t>
                </a:r>
                <a:r>
                  <a:rPr lang="ko-KR" altLang="en-US" sz="1100" dirty="0">
                    <a:latin typeface="Cambria Math" panose="02040503050406030204" pitchFamily="18" charset="0"/>
                  </a:rPr>
                  <a:t>기존의 추정치</a:t>
                </a:r>
                <a:r>
                  <a:rPr lang="en-US" altLang="ko-KR" sz="11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11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100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1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100" dirty="0">
                    <a:latin typeface="Cambria Math" panose="02040503050406030204" pitchFamily="18" charset="0"/>
                  </a:rPr>
                  <a:t>번째 행동을 취했을 때 실제 받은 보상</a:t>
                </a:r>
                <a:endParaRPr lang="en-US" altLang="ko-KR" sz="1100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11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100" dirty="0">
                    <a:latin typeface="Cambria Math" panose="02040503050406030204" pitchFamily="18" charset="0"/>
                  </a:rPr>
                  <a:t>: </a:t>
                </a:r>
                <a:r>
                  <a:rPr lang="ko-KR" altLang="en-US" sz="1100" dirty="0">
                    <a:latin typeface="Cambria Math" panose="02040503050406030204" pitchFamily="18" charset="0"/>
                  </a:rPr>
                  <a:t>기존의 추정치를 어느 방향으로 얼마나 수정해야 하는지를 알려주는 오차 값</a:t>
                </a:r>
                <a:endParaRPr lang="en-US" altLang="ko-KR" sz="1100" dirty="0">
                  <a:latin typeface="Cambria Math" panose="02040503050406030204" pitchFamily="18" charset="0"/>
                </a:endParaRPr>
              </a:p>
              <a:p>
                <a:pPr lvl="1" algn="just">
                  <a:lnSpc>
                    <a:spcPct val="100000"/>
                  </a:lnSpc>
                </a:pPr>
                <a:r>
                  <a:rPr lang="ko-KR" altLang="en-US" sz="800" dirty="0">
                    <a:latin typeface="Cambria Math" panose="02040503050406030204" pitchFamily="18" charset="0"/>
                  </a:rPr>
                  <a:t>양수</a:t>
                </a:r>
                <a:r>
                  <a:rPr lang="en-US" altLang="ko-KR" sz="800" dirty="0">
                    <a:latin typeface="Cambria Math" panose="02040503050406030204" pitchFamily="18" charset="0"/>
                  </a:rPr>
                  <a:t>: </a:t>
                </a:r>
                <a:r>
                  <a:rPr lang="ko-KR" altLang="en-US" sz="800" dirty="0">
                    <a:latin typeface="Cambria Math" panose="02040503050406030204" pitchFamily="18" charset="0"/>
                  </a:rPr>
                  <a:t>예상보다 보상이 잘 나옴</a:t>
                </a:r>
                <a:endParaRPr lang="en-US" altLang="ko-KR" sz="800" dirty="0">
                  <a:latin typeface="Cambria Math" panose="02040503050406030204" pitchFamily="18" charset="0"/>
                </a:endParaRPr>
              </a:p>
              <a:p>
                <a:pPr lvl="1" algn="just">
                  <a:lnSpc>
                    <a:spcPct val="100000"/>
                  </a:lnSpc>
                </a:pPr>
                <a:r>
                  <a:rPr lang="ko-KR" altLang="en-US" sz="800" dirty="0">
                    <a:latin typeface="Cambria Math" panose="02040503050406030204" pitchFamily="18" charset="0"/>
                  </a:rPr>
                  <a:t>음수</a:t>
                </a:r>
                <a:r>
                  <a:rPr lang="en-US" altLang="ko-KR" sz="800" dirty="0">
                    <a:latin typeface="Cambria Math" panose="02040503050406030204" pitchFamily="18" charset="0"/>
                  </a:rPr>
                  <a:t>: </a:t>
                </a:r>
                <a:r>
                  <a:rPr lang="ko-KR" altLang="en-US" sz="800" dirty="0">
                    <a:latin typeface="Cambria Math" panose="02040503050406030204" pitchFamily="18" charset="0"/>
                  </a:rPr>
                  <a:t>예상보다 보상이 잘 안 나옴</a:t>
                </a:r>
                <a:endParaRPr lang="en-US" altLang="ko-KR" sz="800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1100" dirty="0"/>
                  <a:t>오차 값을 그대로 갱신할 경우 너무 급격히 변화하기 때문 오차 값에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ko-KR" altLang="en-US" sz="1100" dirty="0"/>
                  <a:t>를 곱한 값만큼 </a:t>
                </a:r>
                <a:endParaRPr lang="en-US" altLang="ko-KR" sz="1100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1100" dirty="0" err="1"/>
                  <a:t>학습률</a:t>
                </a:r>
                <a:r>
                  <a:rPr lang="en-US" altLang="ko-KR" sz="1100" dirty="0"/>
                  <a:t>(learning rate):</a:t>
                </a:r>
                <a:r>
                  <a:rPr lang="ko-KR" altLang="en-US" sz="11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ko-KR" altLang="en-US" sz="1100" dirty="0"/>
                  <a:t> 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48F819F-2310-8941-F4A7-5605E0E9B1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35943" y="756940"/>
                <a:ext cx="6266388" cy="1695678"/>
              </a:xfrm>
              <a:blipFill>
                <a:blip r:embed="rId3"/>
                <a:stretch>
                  <a:fillRect t="-360" b="-15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01E5645D-35E4-2E66-D70C-0F5E51394D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24" r="32622"/>
          <a:stretch>
            <a:fillRect/>
          </a:stretch>
        </p:blipFill>
        <p:spPr>
          <a:xfrm>
            <a:off x="0" y="1185391"/>
            <a:ext cx="2566651" cy="10148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F86F073-2272-D1AE-E250-1222381564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73"/>
          <a:stretch>
            <a:fillRect/>
          </a:stretch>
        </p:blipFill>
        <p:spPr>
          <a:xfrm>
            <a:off x="385497" y="2704964"/>
            <a:ext cx="3920018" cy="21458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20C8E64-C743-D187-A0EE-95EE93E1DD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097" y="4776013"/>
            <a:ext cx="4097744" cy="19744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FF9530-79CF-9B51-39F2-14551556CFA0}"/>
              </a:ext>
            </a:extLst>
          </p:cNvPr>
          <p:cNvSpPr txBox="1"/>
          <p:nvPr/>
        </p:nvSpPr>
        <p:spPr>
          <a:xfrm>
            <a:off x="3086672" y="2977319"/>
            <a:ext cx="684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오차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DBA3CB-1D0E-07DD-74E5-711AE090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02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DF412-BC0E-6828-2DE0-AB0933B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600" dirty="0"/>
              <a:t>플레이이가 어떤 전략을 취해야 하는가</a:t>
            </a:r>
            <a:r>
              <a:rPr lang="en-US" altLang="ko-KR" sz="3600" dirty="0"/>
              <a:t>?</a:t>
            </a:r>
            <a:endParaRPr lang="ko-KR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32728F0-DB9B-16F0-4C87-DC88748CE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ko-KR" altLang="en-US" sz="2000" dirty="0"/>
                  <a:t>탐욕정책</a:t>
                </a:r>
                <a:r>
                  <a:rPr lang="en-US" altLang="ko-KR" sz="2000" dirty="0"/>
                  <a:t>(greedy policy): </a:t>
                </a:r>
                <a:r>
                  <a:rPr lang="ko-KR" altLang="en-US" sz="2000" dirty="0"/>
                  <a:t>각각을 플레이해보고 가치 추정치</a:t>
                </a:r>
                <a:r>
                  <a:rPr lang="en-US" altLang="ko-KR" sz="2000" dirty="0"/>
                  <a:t>(</a:t>
                </a:r>
                <a:r>
                  <a:rPr lang="ko-KR" altLang="en-US" sz="2000" dirty="0"/>
                  <a:t>실제 획득한 보상의 평균</a:t>
                </a:r>
                <a:r>
                  <a:rPr lang="en-US" altLang="ko-KR" sz="2000" dirty="0"/>
                  <a:t>)</a:t>
                </a:r>
                <a:r>
                  <a:rPr lang="ko-KR" altLang="en-US" sz="2000" dirty="0"/>
                  <a:t>가 가장 큰 슬롯머신을 선택</a:t>
                </a:r>
                <a:endParaRPr lang="en-US" altLang="ko-KR" sz="20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2000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2000" dirty="0"/>
                  <a:t>플레이어에게 다음의 두 가지 행동을 요구</a:t>
                </a:r>
                <a:endParaRPr lang="en-US" altLang="ko-KR" sz="2000" dirty="0"/>
              </a:p>
              <a:p>
                <a:pPr lvl="1" algn="just">
                  <a:lnSpc>
                    <a:spcPct val="100000"/>
                  </a:lnSpc>
                </a:pPr>
                <a:r>
                  <a:rPr lang="ko-KR" altLang="en-US" sz="1800" dirty="0"/>
                  <a:t>활용</a:t>
                </a:r>
                <a:r>
                  <a:rPr lang="en-US" altLang="ko-KR" sz="1800" dirty="0"/>
                  <a:t>(exploitation): </a:t>
                </a:r>
                <a:r>
                  <a:rPr lang="ko-KR" altLang="en-US" sz="1800" dirty="0"/>
                  <a:t>지금까지 실제로 플레이한 결과를 바탕으로 가장 좋다고 생각되는 슬롯머신을 플레이</a:t>
                </a:r>
                <a:r>
                  <a:rPr lang="en-US" altLang="ko-KR" sz="1800" dirty="0"/>
                  <a:t>(</a:t>
                </a:r>
                <a:r>
                  <a:rPr lang="ko-KR" altLang="en-US" sz="1800" dirty="0"/>
                  <a:t>탐욕정책</a:t>
                </a:r>
                <a:r>
                  <a:rPr lang="en-US" altLang="ko-KR" sz="1800" dirty="0"/>
                  <a:t>)</a:t>
                </a:r>
              </a:p>
              <a:p>
                <a:pPr lvl="1" algn="just">
                  <a:lnSpc>
                    <a:spcPct val="100000"/>
                  </a:lnSpc>
                </a:pPr>
                <a:r>
                  <a:rPr lang="ko-KR" altLang="en-US" sz="1800" dirty="0"/>
                  <a:t>탐색</a:t>
                </a:r>
                <a:r>
                  <a:rPr lang="en-US" altLang="ko-KR" sz="1800" dirty="0"/>
                  <a:t>(exploration): </a:t>
                </a:r>
                <a:r>
                  <a:rPr lang="ko-KR" altLang="en-US" sz="1800" dirty="0"/>
                  <a:t>슬롯머신의 가치를 정확하게 추정하기 위해 다양한 슬롯머신을 시도</a:t>
                </a:r>
                <a:endParaRPr lang="en-US" altLang="ko-KR" sz="18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2000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ko-KR" altLang="en-US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ko-KR" sz="2000" b="1" dirty="0">
                    <a:solidFill>
                      <a:srgbClr val="7030A0"/>
                    </a:solidFill>
                  </a:rPr>
                  <a:t>-</a:t>
                </a:r>
                <a:r>
                  <a:rPr lang="ko-KR" altLang="en-US" sz="2000" b="1" dirty="0">
                    <a:solidFill>
                      <a:srgbClr val="7030A0"/>
                    </a:solidFill>
                  </a:rPr>
                  <a:t>탐욕 정책</a:t>
                </a:r>
                <a:r>
                  <a:rPr lang="en-US" altLang="ko-KR" sz="2000" dirty="0"/>
                  <a:t>: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ko-KR" altLang="en-US" sz="2000" dirty="0"/>
                  <a:t>의 확률로 </a:t>
                </a:r>
                <a:r>
                  <a:rPr lang="en-US" altLang="ko-KR" sz="2000" dirty="0"/>
                  <a:t>‘</a:t>
                </a:r>
                <a:r>
                  <a:rPr lang="ko-KR" altLang="en-US" sz="2000" dirty="0"/>
                  <a:t>탐색</a:t>
                </a:r>
                <a:r>
                  <a:rPr lang="en-US" altLang="ko-KR" sz="2000" dirty="0"/>
                  <a:t>’</a:t>
                </a:r>
                <a:r>
                  <a:rPr lang="ko-KR" altLang="en-US" sz="2000" dirty="0"/>
                  <a:t>을 하고 나머지 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/>
                  <a:t> 확률로 </a:t>
                </a:r>
                <a:r>
                  <a:rPr lang="en-US" altLang="ko-KR" sz="2000" dirty="0"/>
                  <a:t>‘</a:t>
                </a:r>
                <a:r>
                  <a:rPr lang="ko-KR" altLang="en-US" sz="2000" dirty="0"/>
                  <a:t>활용</a:t>
                </a:r>
                <a:r>
                  <a:rPr lang="en-US" altLang="ko-KR" sz="2000" dirty="0"/>
                  <a:t>’</a:t>
                </a:r>
              </a:p>
              <a:p>
                <a:pPr algn="just">
                  <a:lnSpc>
                    <a:spcPct val="100000"/>
                  </a:lnSpc>
                </a:pPr>
                <a:endParaRPr lang="en-US" altLang="ko-KR" sz="2000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2000" dirty="0"/>
                  <a:t>강화학습 알고리즘은 결국 </a:t>
                </a:r>
                <a:r>
                  <a:rPr lang="en-US" altLang="ko-KR" sz="2000" dirty="0"/>
                  <a:t>‘</a:t>
                </a:r>
                <a:r>
                  <a:rPr lang="ko-KR" altLang="en-US" sz="2000" dirty="0"/>
                  <a:t>활용과 탐색의 균형</a:t>
                </a:r>
                <a:r>
                  <a:rPr lang="en-US" altLang="ko-KR" sz="2000" dirty="0"/>
                  <a:t>’</a:t>
                </a:r>
                <a:r>
                  <a:rPr lang="ko-KR" altLang="en-US" sz="2000" dirty="0"/>
                  <a:t>을 어떻게 </a:t>
                </a:r>
                <a:r>
                  <a:rPr lang="ko-KR" altLang="en-US" sz="2000" dirty="0" err="1"/>
                  <a:t>잡느냐의</a:t>
                </a:r>
                <a:r>
                  <a:rPr lang="ko-KR" altLang="en-US" sz="2000" dirty="0"/>
                  <a:t> 문제로 귀결됨</a:t>
                </a:r>
              </a:p>
              <a:p>
                <a:pPr algn="r">
                  <a:lnSpc>
                    <a:spcPct val="100000"/>
                  </a:lnSpc>
                </a:pPr>
                <a:endParaRPr lang="ko-KR" altLang="en-US" sz="20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32728F0-DB9B-16F0-4C87-DC88748CE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0" t="-577" r="-6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AD2740-C7B6-6611-5C8F-B3AF5ED1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6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AEF97-A208-8E0C-6941-BDB35720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600" dirty="0" err="1"/>
              <a:t>벤디트</a:t>
            </a:r>
            <a:r>
              <a:rPr lang="ko-KR" altLang="en-US" sz="3600" dirty="0"/>
              <a:t> 알고리즘 구현</a:t>
            </a:r>
            <a:r>
              <a:rPr lang="en-US" altLang="ko-KR" sz="3600" dirty="0"/>
              <a:t>: </a:t>
            </a:r>
            <a:r>
              <a:rPr lang="ko-KR" altLang="en-US" sz="3600" dirty="0"/>
              <a:t>슬롯머신 클래스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657F330-77ED-17AE-8204-912402F0C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64" y="3661228"/>
            <a:ext cx="3353268" cy="26959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A4BB18B-8931-9E3C-4801-2BCEDAE34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11" y="2235482"/>
            <a:ext cx="5262612" cy="2748320"/>
          </a:xfrm>
          <a:prstGeom prst="rect">
            <a:avLst/>
          </a:prstGeom>
        </p:spPr>
      </p:pic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D03726C2-5770-99C3-30A8-D7D8C039D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180509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조건 단순화</a:t>
            </a:r>
            <a:r>
              <a:rPr lang="en-US" altLang="ko-KR" dirty="0"/>
              <a:t>: </a:t>
            </a:r>
            <a:r>
              <a:rPr lang="ko-KR" altLang="en-US" dirty="0"/>
              <a:t>슬롯머신을 플레이하면 승리</a:t>
            </a:r>
            <a:r>
              <a:rPr lang="en-US" altLang="ko-KR" dirty="0"/>
              <a:t>(1)</a:t>
            </a:r>
            <a:r>
              <a:rPr lang="ko-KR" altLang="en-US" dirty="0"/>
              <a:t>와 패배</a:t>
            </a:r>
            <a:r>
              <a:rPr lang="en-US" altLang="ko-KR" dirty="0"/>
              <a:t>(0) </a:t>
            </a:r>
            <a:r>
              <a:rPr lang="ko-KR" altLang="en-US" dirty="0"/>
              <a:t>중 하나를 보상으로 얻음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E49D3B-8D6C-31D7-381D-D9941012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969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86B67-B8DD-9DCA-40B4-CA240086C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AE88E-BD59-5A2F-1890-19B6F44C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각 슬롯머신의 가치 추정치를 구함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90E2A9-0A6E-19D2-95D9-30BB7CE6B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14D1BD3-54F9-1D12-EFC7-365D6FE45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376" y="1491241"/>
            <a:ext cx="5379495" cy="48753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1903689-4531-ADD2-41DD-D732F5AA5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09" y="1025859"/>
            <a:ext cx="3349288" cy="328318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EC4C08-9235-7AC3-8981-73144E51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520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0BF48A-C250-4039-7B2C-51273E64A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에이전트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60DA0A-238F-B223-85D0-88C129E60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51F363-2AE9-B081-D1B4-CF7A14D7C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69" y="1523459"/>
            <a:ext cx="8392696" cy="456311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539A19-381E-0F36-D10A-9DF98AB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720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16D46-FBAE-D154-AC5C-63554925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행동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2617F-2989-FFB1-FC2E-3859DA41A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DF38BB-F540-9F92-B77F-8C8F089D2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4" y="1510082"/>
            <a:ext cx="5303903" cy="33311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5346D4C-05CB-E456-EC7E-69C3A661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032" y="458614"/>
            <a:ext cx="3600000" cy="272364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C7CF44A-046C-B8CE-0495-6C831F521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032" y="3387903"/>
            <a:ext cx="3600000" cy="2742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B8FB8E-5192-C6C2-9AAE-AA28619ACD6B}"/>
                  </a:ext>
                </a:extLst>
              </p:cNvPr>
              <p:cNvSpPr txBox="1"/>
              <p:nvPr/>
            </p:nvSpPr>
            <p:spPr>
              <a:xfrm>
                <a:off x="1521151" y="5385359"/>
                <a:ext cx="36279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:r>
                  <a:rPr lang="ko-KR" altLang="en-US" dirty="0"/>
                  <a:t>단계를 거듭할 수록 승률이 높아짐</a:t>
                </a:r>
                <a:endParaRPr lang="en-US" altLang="ko-KR" dirty="0"/>
              </a:p>
              <a:p>
                <a:pPr algn="just"/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ko-KR" dirty="0"/>
                  <a:t>-</a:t>
                </a:r>
                <a:r>
                  <a:rPr lang="ko-KR" altLang="en-US" dirty="0"/>
                  <a:t>탐욕 정책의 학습의 효과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B8FB8E-5192-C6C2-9AAE-AA28619AC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151" y="5385359"/>
                <a:ext cx="3627916" cy="646331"/>
              </a:xfrm>
              <a:prstGeom prst="rect">
                <a:avLst/>
              </a:prstGeom>
              <a:blipFill>
                <a:blip r:embed="rId5"/>
                <a:stretch>
                  <a:fillRect l="-1513" t="-6604" r="-672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E58C373-05E8-89D1-134F-FA09A0AE4441}"/>
              </a:ext>
            </a:extLst>
          </p:cNvPr>
          <p:cNvSpPr txBox="1"/>
          <p:nvPr/>
        </p:nvSpPr>
        <p:spPr>
          <a:xfrm>
            <a:off x="5921828" y="511203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단계에 따른 보상 총합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505D6-1E6B-91DA-1E62-E55FF5311CCB}"/>
              </a:ext>
            </a:extLst>
          </p:cNvPr>
          <p:cNvSpPr txBox="1"/>
          <p:nvPr/>
        </p:nvSpPr>
        <p:spPr>
          <a:xfrm>
            <a:off x="6299199" y="447186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단계별 승률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7F546A4-F65F-9F86-BFF8-850D7D5F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04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4FD31-8B19-6556-B32A-9F975BDAC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실험할 때마다 결과가 다름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0D378D-0CDF-5844-3E03-2128F62C6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무작위성</a:t>
            </a:r>
            <a:endParaRPr lang="en-US" altLang="ko-KR" dirty="0"/>
          </a:p>
          <a:p>
            <a:pPr algn="just">
              <a:lnSpc>
                <a:spcPct val="100000"/>
              </a:lnSpc>
            </a:pPr>
            <a:r>
              <a:rPr lang="ko-KR" altLang="en-US" dirty="0"/>
              <a:t>한번의 실험만으로 판단하는 것은 의미가 없고 알고리즘의 </a:t>
            </a:r>
            <a:r>
              <a:rPr lang="en-US" altLang="ko-KR" dirty="0"/>
              <a:t>‘</a:t>
            </a:r>
            <a:r>
              <a:rPr lang="ko-KR" altLang="en-US" dirty="0"/>
              <a:t>평균적인 우수성</a:t>
            </a:r>
            <a:r>
              <a:rPr lang="en-US" altLang="ko-KR" dirty="0"/>
              <a:t>’</a:t>
            </a:r>
            <a:r>
              <a:rPr lang="ko-KR" altLang="en-US" dirty="0"/>
              <a:t>을 평가해야 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2C9429-BE30-F744-A00B-CE1A885C7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561" y="3067940"/>
            <a:ext cx="3600000" cy="2767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AD9661-30BD-4F09-2332-F03333993EA3}"/>
              </a:ext>
            </a:extLst>
          </p:cNvPr>
          <p:cNvSpPr txBox="1"/>
          <p:nvPr/>
        </p:nvSpPr>
        <p:spPr>
          <a:xfrm>
            <a:off x="1379439" y="5947303"/>
            <a:ext cx="2175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</a:t>
            </a:r>
            <a:r>
              <a:rPr lang="ko-KR" altLang="en-US" sz="1200" dirty="0"/>
              <a:t>번 실험의 결과를 모두 표현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DD1CE9-21A5-9EA5-A61F-D8538806A0C4}"/>
              </a:ext>
            </a:extLst>
          </p:cNvPr>
          <p:cNvSpPr txBox="1"/>
          <p:nvPr/>
        </p:nvSpPr>
        <p:spPr>
          <a:xfrm>
            <a:off x="6075355" y="5941135"/>
            <a:ext cx="18325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</a:t>
            </a:r>
            <a:r>
              <a:rPr lang="ko-KR" altLang="en-US" sz="1200" dirty="0"/>
              <a:t>번 실험의 결과의 평균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776E78-23CE-6625-CC71-5C3E7DC1C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45" y="3034672"/>
            <a:ext cx="3600000" cy="276726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7987EF-9BF4-417E-0109-76ECDB1A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59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D6515BCB-FD9E-A6A4-BE48-177AC36E93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값에 대한 실험</a:t>
                </a:r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D6515BCB-FD9E-A6A4-BE48-177AC36E93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3571" b="-2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E4B6386-C7DA-5C57-35A3-A030186832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9937" y="1056068"/>
                <a:ext cx="3742394" cy="5280338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ko-KR" altLang="en-US" sz="18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ko-KR" sz="1800" dirty="0"/>
                  <a:t> = 0.01 : </a:t>
                </a:r>
                <a:r>
                  <a:rPr lang="ko-KR" altLang="en-US" sz="1800" dirty="0"/>
                  <a:t>상승 속도는 가장 느림</a:t>
                </a:r>
                <a:r>
                  <a:rPr lang="en-US" altLang="ko-KR" sz="1800" dirty="0"/>
                  <a:t>. </a:t>
                </a:r>
                <a:r>
                  <a:rPr lang="ko-KR" altLang="en-US" sz="1800" dirty="0"/>
                  <a:t>탐색 비율이 너무 작아서 최적의 </a:t>
                </a:r>
                <a:r>
                  <a:rPr lang="ko-KR" altLang="en-US" sz="1800" dirty="0" err="1"/>
                  <a:t>머신을</a:t>
                </a:r>
                <a:r>
                  <a:rPr lang="ko-KR" altLang="en-US" sz="1800" dirty="0"/>
                  <a:t> 찾을 확률이 낮음</a:t>
                </a:r>
                <a:endParaRPr lang="en-US" altLang="ko-KR" sz="1800" dirty="0"/>
              </a:p>
              <a:p>
                <a:pPr algn="just">
                  <a:lnSpc>
                    <a:spcPct val="100000"/>
                  </a:lnSpc>
                </a:pPr>
                <a:endParaRPr lang="en-US" altLang="ko-KR" sz="1800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ko-KR" altLang="en-US" sz="18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ko-KR" sz="1800" dirty="0"/>
                  <a:t> = 0.03: </a:t>
                </a:r>
                <a:r>
                  <a:rPr lang="ko-KR" altLang="en-US" sz="1800" dirty="0"/>
                  <a:t>승률이 빠르게 상승하지만 상승세가 급격히 꺾임</a:t>
                </a:r>
                <a:r>
                  <a:rPr lang="en-US" altLang="ko-KR" sz="1800" dirty="0"/>
                  <a:t>. 30%</a:t>
                </a:r>
                <a:r>
                  <a:rPr lang="ko-KR" altLang="en-US" sz="1800" dirty="0"/>
                  <a:t>라는 높은 확률로 탐색을 시도하기 때문에 최적의 </a:t>
                </a:r>
                <a:r>
                  <a:rPr lang="ko-KR" altLang="en-US" sz="1800" dirty="0" err="1"/>
                  <a:t>머신을</a:t>
                </a:r>
                <a:r>
                  <a:rPr lang="ko-KR" altLang="en-US" sz="1800" dirty="0"/>
                  <a:t> 선택하는 </a:t>
                </a:r>
                <a:r>
                  <a:rPr lang="en-US" altLang="ko-KR" sz="1800" dirty="0"/>
                  <a:t>‘</a:t>
                </a:r>
                <a:r>
                  <a:rPr lang="ko-KR" altLang="en-US" sz="1800" dirty="0"/>
                  <a:t>활용의 비율이 너무 낮기 때문</a:t>
                </a:r>
                <a:r>
                  <a:rPr lang="en-US" altLang="ko-KR" sz="1800" dirty="0"/>
                  <a:t>‘</a:t>
                </a:r>
              </a:p>
              <a:p>
                <a:pPr algn="just">
                  <a:lnSpc>
                    <a:spcPct val="100000"/>
                  </a:lnSpc>
                </a:pPr>
                <a:endParaRPr lang="ko-KR" altLang="en-US" sz="18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E4B6386-C7DA-5C57-35A3-A030186832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9937" y="1056068"/>
                <a:ext cx="3742394" cy="5280338"/>
              </a:xfrm>
              <a:blipFill>
                <a:blip r:embed="rId3"/>
                <a:stretch>
                  <a:fillRect l="-1140" t="-577" r="-13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1A3A8B72-38D2-1F16-B427-7C8D7CC1C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8" y="1535893"/>
            <a:ext cx="5179319" cy="3981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380630-CF83-76F2-CCD1-769DEF004DDA}"/>
              </a:ext>
            </a:extLst>
          </p:cNvPr>
          <p:cNvSpPr txBox="1"/>
          <p:nvPr/>
        </p:nvSpPr>
        <p:spPr>
          <a:xfrm>
            <a:off x="1615388" y="5665200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100</a:t>
            </a:r>
            <a:r>
              <a:rPr lang="ko-KR" altLang="en-US" dirty="0"/>
              <a:t>회 반복의 평균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E8DC25-8EF6-6403-5940-EACEC07B8C91}"/>
                  </a:ext>
                </a:extLst>
              </p:cNvPr>
              <p:cNvSpPr txBox="1"/>
              <p:nvPr/>
            </p:nvSpPr>
            <p:spPr>
              <a:xfrm>
                <a:off x="4572000" y="229206"/>
                <a:ext cx="4572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ko-KR" sz="1600" b="1" dirty="0">
                    <a:solidFill>
                      <a:srgbClr val="7030A0"/>
                    </a:solidFill>
                  </a:rPr>
                  <a:t>-</a:t>
                </a:r>
                <a:r>
                  <a:rPr lang="ko-KR" altLang="en-US" sz="1600" b="1" dirty="0">
                    <a:solidFill>
                      <a:srgbClr val="7030A0"/>
                    </a:solidFill>
                  </a:rPr>
                  <a:t>탐욕 정책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ko-KR" altLang="en-US" sz="1600" dirty="0"/>
                  <a:t>의 확률로 </a:t>
                </a:r>
                <a:r>
                  <a:rPr lang="en-US" altLang="ko-KR" sz="1600" dirty="0"/>
                  <a:t>‘</a:t>
                </a:r>
                <a:r>
                  <a:rPr lang="ko-KR" altLang="en-US" sz="1600" dirty="0"/>
                  <a:t>탐색</a:t>
                </a:r>
                <a:r>
                  <a:rPr lang="en-US" altLang="ko-KR" sz="1600" dirty="0"/>
                  <a:t>’</a:t>
                </a:r>
                <a:r>
                  <a:rPr lang="ko-KR" altLang="en-US" sz="1600" dirty="0"/>
                  <a:t>을 하고 나머지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 확률로 </a:t>
                </a:r>
                <a:r>
                  <a:rPr lang="en-US" altLang="ko-KR" sz="1600" dirty="0"/>
                  <a:t>‘</a:t>
                </a:r>
                <a:r>
                  <a:rPr lang="ko-KR" altLang="en-US" sz="1600" dirty="0"/>
                  <a:t>활용</a:t>
                </a:r>
                <a:r>
                  <a:rPr lang="en-US" altLang="ko-KR" sz="1600" dirty="0"/>
                  <a:t>’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E8DC25-8EF6-6403-5940-EACEC07B8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29206"/>
                <a:ext cx="4572000" cy="584775"/>
              </a:xfrm>
              <a:prstGeom prst="rect">
                <a:avLst/>
              </a:prstGeom>
              <a:blipFill>
                <a:blip r:embed="rId5"/>
                <a:stretch>
                  <a:fillRect t="-4167" r="-667" b="-135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0F41FD-E1A8-01A1-4301-3E5A0C075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235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E7556-A0E6-8F75-6456-3DB60DB7C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비정상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F03B19-EA9F-3CFB-0E72-048AA562D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지금까지 다룬 </a:t>
            </a:r>
            <a:r>
              <a:rPr lang="ko-KR" altLang="en-US" dirty="0" err="1"/>
              <a:t>벤디트</a:t>
            </a:r>
            <a:r>
              <a:rPr lang="ko-KR" altLang="en-US" dirty="0"/>
              <a:t> 문제는 정상문제</a:t>
            </a:r>
            <a:r>
              <a:rPr lang="en-US" altLang="ko-KR" dirty="0"/>
              <a:t>(stationary problem)</a:t>
            </a:r>
            <a:r>
              <a:rPr lang="ko-KR" altLang="en-US" dirty="0"/>
              <a:t>에 속함</a:t>
            </a:r>
            <a:endParaRPr lang="en-US" altLang="ko-KR" dirty="0"/>
          </a:p>
          <a:p>
            <a:pPr lvl="1"/>
            <a:r>
              <a:rPr lang="ko-KR" altLang="en-US" dirty="0"/>
              <a:t>정상문제</a:t>
            </a:r>
            <a:r>
              <a:rPr lang="en-US" altLang="ko-KR" dirty="0"/>
              <a:t>: </a:t>
            </a:r>
            <a:r>
              <a:rPr lang="ko-KR" altLang="en-US" dirty="0"/>
              <a:t>보상의 확률분포가 변하지 않는 문제</a:t>
            </a:r>
            <a:endParaRPr lang="en-US" altLang="ko-KR" dirty="0"/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슬롯머신의 속성은 한번 설정되면 에이전트가 플레이하는 동안 절대 변하지 않음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57BF9A-207A-4372-D700-AC8D42E6A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68" y="3258740"/>
            <a:ext cx="5262612" cy="274832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4F1BFB3-CEE0-B05A-05A6-3ECBE3E7F8FF}"/>
              </a:ext>
            </a:extLst>
          </p:cNvPr>
          <p:cNvCxnSpPr>
            <a:cxnSpLocks/>
          </p:cNvCxnSpPr>
          <p:nvPr/>
        </p:nvCxnSpPr>
        <p:spPr>
          <a:xfrm flipH="1">
            <a:off x="3592286" y="2627086"/>
            <a:ext cx="1640114" cy="19521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3C8CBEF-D167-09F8-4690-AD764F9B990C}"/>
              </a:ext>
            </a:extLst>
          </p:cNvPr>
          <p:cNvCxnSpPr/>
          <p:nvPr/>
        </p:nvCxnSpPr>
        <p:spPr>
          <a:xfrm>
            <a:off x="1277257" y="4632900"/>
            <a:ext cx="23077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4A6DC227-52C6-10CD-99AF-6D3FCC3D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153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38A35-71C3-9784-149D-617F405A9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비정상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1D7D49-D72C-B7CF-02B9-16925C46A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en-US" altLang="ko-KR" dirty="0"/>
              <a:t>Bandit </a:t>
            </a:r>
            <a:r>
              <a:rPr lang="ko-KR" altLang="en-US" dirty="0"/>
              <a:t>클래스에 코드를 한 줄 추가하여 플레이할 때마다 </a:t>
            </a:r>
            <a:r>
              <a:rPr lang="en-US" altLang="ko-KR" dirty="0" err="1"/>
              <a:t>self.rates</a:t>
            </a:r>
            <a:r>
              <a:rPr lang="ko-KR" altLang="en-US" dirty="0"/>
              <a:t>에 작은 노이즈를 추가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591737-801F-0141-2D9E-467AD1060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49" y="2006788"/>
            <a:ext cx="6305354" cy="27468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66ED38-DEE1-F067-B270-8DA173C78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024" y="5056661"/>
            <a:ext cx="5391427" cy="1295467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C2E8019-D610-7F13-1690-203E4FA72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629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E5F32-51FC-51D1-A1F4-7D52E14F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정상 문제 복습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94670B1-0006-A491-5C91-D4A69B3943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ko-KR" altLang="en-US" dirty="0"/>
                  <a:t>슬롯머신의 가치를 추정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보상의 평균</a:t>
                </a:r>
                <a:endParaRPr lang="en-US" altLang="ko-KR" dirty="0"/>
              </a:p>
              <a:p>
                <a:pPr algn="just">
                  <a:lnSpc>
                    <a:spcPct val="110000"/>
                  </a:lnSpc>
                </a:pPr>
                <a:endParaRPr lang="en-US" altLang="ko-KR" dirty="0"/>
              </a:p>
              <a:p>
                <a:pPr algn="just">
                  <a:lnSpc>
                    <a:spcPct val="110000"/>
                  </a:lnSpc>
                </a:pPr>
                <a:endParaRPr lang="en-US" altLang="ko-KR" dirty="0"/>
              </a:p>
              <a:p>
                <a:pPr algn="just">
                  <a:lnSpc>
                    <a:spcPct val="11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을 각 보상에 대한 </a:t>
                </a:r>
                <a:r>
                  <a:rPr lang="en-US" altLang="ko-KR" dirty="0"/>
                  <a:t>‘</a:t>
                </a:r>
                <a:r>
                  <a:rPr lang="ko-KR" altLang="en-US" dirty="0"/>
                  <a:t>가중치</a:t>
                </a:r>
                <a:r>
                  <a:rPr lang="en-US" altLang="ko-KR" dirty="0"/>
                  <a:t>’</a:t>
                </a:r>
                <a:r>
                  <a:rPr lang="ko-KR" altLang="en-US" dirty="0"/>
                  <a:t>로 볼 수 있음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94670B1-0006-A491-5C91-D4A69B3943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10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2A2288-990F-3B1B-5445-59540EDD767F}"/>
                  </a:ext>
                </a:extLst>
              </p:cNvPr>
              <p:cNvSpPr txBox="1"/>
              <p:nvPr/>
            </p:nvSpPr>
            <p:spPr>
              <a:xfrm>
                <a:off x="1818117" y="1600275"/>
                <a:ext cx="4619002" cy="1153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…+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…+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2A2288-990F-3B1B-5445-59540EDD7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117" y="1600275"/>
                <a:ext cx="4619002" cy="1153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3E470BB0-D1B3-FD3B-AA6F-76A789450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71" y="3694670"/>
            <a:ext cx="3200564" cy="26417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47DA53-79C9-EBC2-D068-FD3A5CE35568}"/>
              </a:ext>
            </a:extLst>
          </p:cNvPr>
          <p:cNvSpPr txBox="1"/>
          <p:nvPr/>
        </p:nvSpPr>
        <p:spPr>
          <a:xfrm>
            <a:off x="4127618" y="3892153"/>
            <a:ext cx="461917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R" altLang="en-US" sz="2000" dirty="0"/>
              <a:t>새로 얻은 보상이든 오래전에 얻은 보상이든 모두 동등하게 취급</a:t>
            </a:r>
            <a:endParaRPr lang="en-US" altLang="ko-K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R" altLang="en-US" sz="2000" dirty="0"/>
              <a:t>비정상 문제에서는 시간이 흐르면 환경</a:t>
            </a:r>
            <a:r>
              <a:rPr lang="en-US" altLang="ko-KR" sz="2000" dirty="0"/>
              <a:t>(</a:t>
            </a:r>
            <a:r>
              <a:rPr lang="ko-KR" altLang="en-US" sz="2000" dirty="0"/>
              <a:t>슬롯머신</a:t>
            </a:r>
            <a:r>
              <a:rPr lang="en-US" altLang="ko-KR" sz="2000" dirty="0"/>
              <a:t>)</a:t>
            </a:r>
            <a:r>
              <a:rPr lang="ko-KR" altLang="en-US" sz="2000" dirty="0"/>
              <a:t>이 변하기 때문에 과거 데이터</a:t>
            </a:r>
            <a:r>
              <a:rPr lang="en-US" altLang="ko-KR" sz="2000" dirty="0"/>
              <a:t>(</a:t>
            </a:r>
            <a:r>
              <a:rPr lang="ko-KR" altLang="en-US" sz="2000" dirty="0"/>
              <a:t>보상</a:t>
            </a:r>
            <a:r>
              <a:rPr lang="en-US" altLang="ko-KR" sz="2000" dirty="0"/>
              <a:t>)</a:t>
            </a:r>
            <a:r>
              <a:rPr lang="ko-KR" altLang="en-US" sz="2000" dirty="0"/>
              <a:t>의 중요도는 점점 낮아져야 함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87B9A61-EC59-6B6C-8A4B-A71AED49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759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6EBC9-9AF2-CCE8-9B40-3C2282228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비정상 문제를 풀기 위해서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9BD9DF-9F5F-0E32-9D5C-FCBD9453F9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증분방식의 행동 가치 추정치</a:t>
                </a: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 err="1"/>
                  <a:t>를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/>
                  <a:t>라는 </a:t>
                </a:r>
                <a:r>
                  <a:rPr lang="ko-KR" altLang="en-US" dirty="0" err="1"/>
                  <a:t>고정값으로</a:t>
                </a:r>
                <a:r>
                  <a:rPr lang="ko-KR" altLang="en-US" dirty="0"/>
                  <a:t> 바꿈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&lt;1)</m:t>
                    </m:r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9BD9DF-9F5F-0E32-9D5C-FCBD9453F9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11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5AF70F-D50B-8F19-3B68-83BD46ED8845}"/>
                  </a:ext>
                </a:extLst>
              </p:cNvPr>
              <p:cNvSpPr txBox="1"/>
              <p:nvPr/>
            </p:nvSpPr>
            <p:spPr>
              <a:xfrm>
                <a:off x="2006599" y="1503552"/>
                <a:ext cx="3710824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5AF70F-D50B-8F19-3B68-83BD46ED8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599" y="1503552"/>
                <a:ext cx="3710824" cy="6939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914722-AB5F-5780-68BB-527C2688C7EB}"/>
                  </a:ext>
                </a:extLst>
              </p:cNvPr>
              <p:cNvSpPr txBox="1"/>
              <p:nvPr/>
            </p:nvSpPr>
            <p:spPr>
              <a:xfrm>
                <a:off x="2045841" y="2860008"/>
                <a:ext cx="36715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914722-AB5F-5780-68BB-527C2688C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841" y="2860008"/>
                <a:ext cx="3671582" cy="369332"/>
              </a:xfrm>
              <a:prstGeom prst="rect">
                <a:avLst/>
              </a:prstGeom>
              <a:blipFill>
                <a:blip r:embed="rId4"/>
                <a:stretch>
                  <a:fillRect l="-2326" t="-24590" r="-5482" b="-491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928843EE-DBF7-B996-09E3-F99AB0F2C5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56" y="3628661"/>
            <a:ext cx="3988005" cy="26417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3F9794-6966-DC1C-8E41-92DF58655EF4}"/>
              </a:ext>
            </a:extLst>
          </p:cNvPr>
          <p:cNvSpPr txBox="1"/>
          <p:nvPr/>
        </p:nvSpPr>
        <p:spPr>
          <a:xfrm>
            <a:off x="4185559" y="3784356"/>
            <a:ext cx="46191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R" altLang="en-US" sz="2000" dirty="0"/>
              <a:t>오래전에 받은 보상일수록 가중치가 지수적</a:t>
            </a:r>
            <a:r>
              <a:rPr lang="en-US" altLang="ko-KR" sz="2000" dirty="0"/>
              <a:t>(exponential)</a:t>
            </a:r>
            <a:r>
              <a:rPr lang="ko-KR" altLang="en-US" sz="2000" dirty="0"/>
              <a:t>으로 </a:t>
            </a:r>
            <a:r>
              <a:rPr lang="ko-KR" altLang="en-US" sz="2000" dirty="0" err="1"/>
              <a:t>작아짐</a:t>
            </a:r>
            <a:endParaRPr lang="ko-KR" altLang="en-US" sz="2000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51E1E1E5-7962-F59F-B0D9-23CDF3FC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514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86DF8-54AD-B88B-1948-9AE7B2856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600" dirty="0"/>
              <a:t>기하급수적인 가중치가 만들어지는 이유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8D82A9D-8762-6341-4807-C532D96A0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442" y="1214570"/>
            <a:ext cx="6147116" cy="11684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3DF802-9292-58EB-AA8F-F627507D7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442" y="3195279"/>
            <a:ext cx="6147116" cy="3429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AE13C88-E66A-3885-C568-774E3AA549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442" y="3639209"/>
            <a:ext cx="6147116" cy="142247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ED27A9-7BE7-9BC4-723F-CC13D5A4D5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527" y="5663816"/>
            <a:ext cx="6147116" cy="3429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BC43D4-9761-FB9E-F61A-E02E35DF88FF}"/>
              </a:ext>
            </a:extLst>
          </p:cNvPr>
          <p:cNvSpPr txBox="1"/>
          <p:nvPr/>
        </p:nvSpPr>
        <p:spPr>
          <a:xfrm>
            <a:off x="3920670" y="867339"/>
            <a:ext cx="19793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2000" dirty="0"/>
              <a:t>식을 변형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858781-35CA-7837-CA19-B4EB02CCDE09}"/>
                  </a:ext>
                </a:extLst>
              </p:cNvPr>
              <p:cNvSpPr txBox="1"/>
              <p:nvPr/>
            </p:nvSpPr>
            <p:spPr>
              <a:xfrm>
                <a:off x="3505200" y="2602040"/>
                <a:ext cx="239485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000" dirty="0"/>
                  <a:t>에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2000" dirty="0"/>
                  <a:t>를 대입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858781-35CA-7837-CA19-B4EB02CCD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602040"/>
                <a:ext cx="2394857" cy="400110"/>
              </a:xfrm>
              <a:prstGeom prst="rect">
                <a:avLst/>
              </a:prstGeom>
              <a:blipFill>
                <a:blip r:embed="rId6"/>
                <a:stretch>
                  <a:fillRect t="-12308" b="-24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9A927F-8D63-6E4F-0E38-3A75C4758247}"/>
                  </a:ext>
                </a:extLst>
              </p:cNvPr>
              <p:cNvSpPr txBox="1"/>
              <p:nvPr/>
            </p:nvSpPr>
            <p:spPr>
              <a:xfrm>
                <a:off x="3106056" y="5162694"/>
                <a:ext cx="319314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ko-KR" altLang="en-US" sz="2000" dirty="0"/>
                  <a:t>위의 전개를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000" dirty="0"/>
                  <a:t>번 반복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9A927F-8D63-6E4F-0E38-3A75C4758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056" y="5162694"/>
                <a:ext cx="3193143" cy="400110"/>
              </a:xfrm>
              <a:prstGeom prst="rect">
                <a:avLst/>
              </a:prstGeom>
              <a:blipFill>
                <a:blip r:embed="rId7"/>
                <a:stretch>
                  <a:fillRect l="-2103" t="-12121" b="-22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2C40946-AB55-AE7D-E823-69EACA28D1AC}"/>
              </a:ext>
            </a:extLst>
          </p:cNvPr>
          <p:cNvSpPr txBox="1"/>
          <p:nvPr/>
        </p:nvSpPr>
        <p:spPr>
          <a:xfrm>
            <a:off x="2282526" y="6164938"/>
            <a:ext cx="51670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2000" dirty="0"/>
              <a:t>지수 이동 평균 </a:t>
            </a:r>
            <a:r>
              <a:rPr lang="en-US" altLang="ko-KR" sz="2000" dirty="0"/>
              <a:t>(exponential moving average)</a:t>
            </a:r>
            <a:endParaRPr lang="ko-KR" altLang="en-US" sz="2000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7E909ACE-28D0-56C3-3568-57C171F8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642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215FB-BF1D-03AC-C86C-E2C1911D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학습결과의 편향의 관점에서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DA76994-97E3-8621-C99D-95D724D657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ko-KR" altLang="en-US" sz="2000" dirty="0">
                    <a:solidFill>
                      <a:srgbClr val="FF0000"/>
                    </a:solidFill>
                  </a:rPr>
                  <a:t>표본 평균 방식</a:t>
                </a:r>
                <a:endParaRPr lang="en-US" altLang="ko-KR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2000" dirty="0"/>
              </a:p>
              <a:p>
                <a:pPr>
                  <a:lnSpc>
                    <a:spcPct val="100000"/>
                  </a:lnSpc>
                </a:pPr>
                <a:r>
                  <a:rPr lang="ko-KR" altLang="en-US" sz="2000" dirty="0"/>
                  <a:t>첫번째 보상</a:t>
                </a:r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/>
                  <a:t>을 받으면</a:t>
                </a:r>
                <a:endParaRPr lang="en-US" altLang="ko-KR" sz="2000" dirty="0"/>
              </a:p>
              <a:p>
                <a:pPr>
                  <a:lnSpc>
                    <a:spcPct val="100000"/>
                  </a:lnSpc>
                </a:pPr>
                <a:r>
                  <a:rPr lang="ko-KR" altLang="en-US" sz="2000" dirty="0"/>
                  <a:t>초기 추정치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/>
                  <a:t>이 사라짐</a:t>
                </a:r>
                <a:endParaRPr lang="en-US" altLang="ko-KR" sz="2000" dirty="0"/>
              </a:p>
              <a:p>
                <a:pPr>
                  <a:lnSpc>
                    <a:spcPct val="100000"/>
                  </a:lnSpc>
                </a:pPr>
                <a:r>
                  <a:rPr lang="ko-KR" altLang="en-US" sz="2000" dirty="0"/>
                  <a:t>즉 초기 </a:t>
                </a:r>
                <a:r>
                  <a:rPr lang="ko-KR" altLang="en-US" sz="2000" dirty="0" err="1"/>
                  <a:t>추정값에</a:t>
                </a:r>
                <a:r>
                  <a:rPr lang="ko-KR" altLang="en-US" sz="2000" dirty="0"/>
                  <a:t> 의한 편향이 </a:t>
                </a:r>
                <a:r>
                  <a:rPr lang="en-US" altLang="ko-KR" sz="2000" dirty="0"/>
                  <a:t>0</a:t>
                </a:r>
                <a:r>
                  <a:rPr lang="ko-KR" altLang="en-US" sz="2000" dirty="0"/>
                  <a:t>이며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오직 관측된 실제 보상들의 평균만 반영됨</a:t>
                </a:r>
                <a:endParaRPr lang="en-US" altLang="ko-KR" sz="2000" dirty="0"/>
              </a:p>
              <a:p>
                <a:pPr>
                  <a:lnSpc>
                    <a:spcPct val="100000"/>
                  </a:lnSpc>
                </a:pPr>
                <a:endParaRPr lang="en-US" altLang="ko-KR" sz="2000" dirty="0"/>
              </a:p>
              <a:p>
                <a:pPr>
                  <a:lnSpc>
                    <a:spcPct val="100000"/>
                  </a:lnSpc>
                </a:pPr>
                <a:r>
                  <a:rPr lang="ko-KR" altLang="en-US" sz="2000" dirty="0">
                    <a:solidFill>
                      <a:srgbClr val="FF0000"/>
                    </a:solidFill>
                  </a:rPr>
                  <a:t>지수 이동 평균 방식</a:t>
                </a:r>
                <a:endParaRPr lang="en-US" altLang="ko-KR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ko-KR" altLang="ko-KR" sz="2000" dirty="0"/>
                  <a:t>유한한 스텝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</m:oMath>
                </a14:m>
                <a:r>
                  <a:rPr lang="ko-KR" altLang="ko-KR" sz="2000" dirty="0"/>
                  <a:t>내에서는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  <a:cs typeface="+mn-cs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ko-KR" sz="2000" dirty="0"/>
                  <a:t>의 영향이 지수적으로 감소(</a:t>
                </a:r>
                <a:r>
                  <a:rPr lang="ko-KR" altLang="ko-KR" sz="2000" dirty="0" err="1"/>
                  <a:t>Exponential</a:t>
                </a:r>
                <a:r>
                  <a:rPr lang="ko-KR" altLang="ko-KR" sz="2000" dirty="0"/>
                  <a:t> </a:t>
                </a:r>
                <a:r>
                  <a:rPr lang="ko-KR" altLang="ko-KR" sz="2000" dirty="0" err="1"/>
                  <a:t>Decay</a:t>
                </a:r>
                <a:r>
                  <a:rPr lang="ko-KR" altLang="ko-KR" sz="2000" dirty="0"/>
                  <a:t>)하</a:t>
                </a:r>
                <a:r>
                  <a:rPr lang="ko-KR" altLang="en-US" sz="2000" dirty="0"/>
                  <a:t>지만 </a:t>
                </a:r>
                <a:r>
                  <a:rPr lang="ko-KR" altLang="ko-KR" sz="2000" dirty="0"/>
                  <a:t>잔존</a:t>
                </a:r>
                <a:endParaRPr lang="ko-KR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DA76994-97E3-8621-C99D-95D724D657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0" t="-5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9FD961-72EF-F68E-2377-FA477E05DE8C}"/>
                  </a:ext>
                </a:extLst>
              </p:cNvPr>
              <p:cNvSpPr txBox="1"/>
              <p:nvPr/>
            </p:nvSpPr>
            <p:spPr>
              <a:xfrm>
                <a:off x="2080112" y="923805"/>
                <a:ext cx="3540969" cy="8860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:endParaRPr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9FD961-72EF-F68E-2377-FA477E05D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112" y="923805"/>
                <a:ext cx="3540969" cy="8860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0AC03A-888E-23FB-6AF0-A58C10EC1A59}"/>
                  </a:ext>
                </a:extLst>
              </p:cNvPr>
              <p:cNvSpPr txBox="1"/>
              <p:nvPr/>
            </p:nvSpPr>
            <p:spPr>
              <a:xfrm>
                <a:off x="2670082" y="1728633"/>
                <a:ext cx="4619170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0AC03A-888E-23FB-6AF0-A58C10EC1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082" y="1728633"/>
                <a:ext cx="4619170" cy="6685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1131B4F1-B704-D9A5-A990-63BF15040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7" r="13971" b="3339"/>
          <a:stretch>
            <a:fillRect/>
          </a:stretch>
        </p:blipFill>
        <p:spPr>
          <a:xfrm>
            <a:off x="791028" y="4460852"/>
            <a:ext cx="6974114" cy="495777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82AF315-0AA6-8D70-591E-C023F91C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432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97331-FB82-BD42-B6EB-B351B85EA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비정상 문제 풀기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0F85333-CBB6-E7BA-4069-D40B3CA277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추정치의 가중치를 </a:t>
                </a:r>
                <a:r>
                  <a:rPr lang="ko-KR" altLang="en-US" dirty="0" err="1"/>
                  <a:t>고정값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/>
                  <a:t>로 갱신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0F85333-CBB6-E7BA-4069-D40B3CA27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1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9D5C5ACC-A8B3-93BA-960F-1D565BB96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434" y="1968433"/>
            <a:ext cx="6202916" cy="3234938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766A053-5058-D1DA-134D-7BF8A01932FD}"/>
              </a:ext>
            </a:extLst>
          </p:cNvPr>
          <p:cNvCxnSpPr>
            <a:cxnSpLocks/>
          </p:cNvCxnSpPr>
          <p:nvPr/>
        </p:nvCxnSpPr>
        <p:spPr>
          <a:xfrm>
            <a:off x="6233886" y="4117643"/>
            <a:ext cx="107146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F96B302-0D43-FEDE-0001-9A988B1C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979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7300D-696C-FACA-41D2-75ECD462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표본 평균과 지수 이동 평균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536317-CE60-8104-C5C4-C1E495718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7482EF-EB40-EB88-3832-2C60A01C9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160" y="1168757"/>
            <a:ext cx="6599530" cy="5054959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0F274F-9D39-3E0E-FBEB-0AB3069B7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362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16375</TotalTime>
  <Words>1117</Words>
  <Application>Microsoft Office PowerPoint</Application>
  <PresentationFormat>화면 슬라이드 쇼(4:3)</PresentationFormat>
  <Paragraphs>197</Paragraphs>
  <Slides>26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맑은 고딕</vt:lpstr>
      <vt:lpstr>Arial</vt:lpstr>
      <vt:lpstr>Calibri</vt:lpstr>
      <vt:lpstr>Calibri Light</vt:lpstr>
      <vt:lpstr>Cambria Math</vt:lpstr>
      <vt:lpstr>Office 테마</vt:lpstr>
      <vt:lpstr>벤디트 문제 (Bandit Problem)</vt:lpstr>
      <vt:lpstr>강화학습</vt:lpstr>
      <vt:lpstr>강화학습의 예</vt:lpstr>
      <vt:lpstr>밴디트 문제(bandit problem)</vt:lpstr>
      <vt:lpstr>좋은 슬롯머신이란?</vt:lpstr>
      <vt:lpstr>수식으로 표현하기</vt:lpstr>
      <vt:lpstr>밴디트 알고리즘</vt:lpstr>
      <vt:lpstr>밴디트 알고리즘 – 가치추정</vt:lpstr>
      <vt:lpstr>평균을 구하는 코드</vt:lpstr>
      <vt:lpstr>평균을 구하는 코드를 개선</vt:lpstr>
      <vt:lpstr>증분 구현(incremental implementation)</vt:lpstr>
      <vt:lpstr>플레이이가 어떤 전략을 취해야 하는가?</vt:lpstr>
      <vt:lpstr>벤디트 알고리즘 구현: 슬롯머신 클래스</vt:lpstr>
      <vt:lpstr>각 슬롯머신의 가치 추정치를 구함</vt:lpstr>
      <vt:lpstr>에이전트 구현</vt:lpstr>
      <vt:lpstr>행동 실행</vt:lpstr>
      <vt:lpstr>실험할 때마다 결과가 다름</vt:lpstr>
      <vt:lpstr>ε 값에 대한 실험</vt:lpstr>
      <vt:lpstr>비정상 문제</vt:lpstr>
      <vt:lpstr>비정상 문제</vt:lpstr>
      <vt:lpstr>정상 문제 복습</vt:lpstr>
      <vt:lpstr>비정상 문제를 풀기 위해서</vt:lpstr>
      <vt:lpstr>기하급수적인 가중치가 만들어지는 이유</vt:lpstr>
      <vt:lpstr>학습결과의 편향의 관점에서 </vt:lpstr>
      <vt:lpstr>비정상 문제 풀기</vt:lpstr>
      <vt:lpstr>표본 평균과 지수 이동 평균 비교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 for 2-hop Labeling of Dynamic Directed Acyclic Graphs</dc:title>
  <dc:creator>Windows 사용자</dc:creator>
  <cp:lastModifiedBy>안진현</cp:lastModifiedBy>
  <cp:revision>519</cp:revision>
  <cp:lastPrinted>2016-10-13T23:42:19Z</cp:lastPrinted>
  <dcterms:created xsi:type="dcterms:W3CDTF">2016-09-30T16:23:03Z</dcterms:created>
  <dcterms:modified xsi:type="dcterms:W3CDTF">2026-08-31T04:41:36Z</dcterms:modified>
</cp:coreProperties>
</file>