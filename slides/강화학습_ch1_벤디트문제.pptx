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92809" autoAdjust="0"/>
  </p:normalViewPr>
  <p:slideViewPr>
    <p:cSldViewPr snapToGrid="0">
      <p:cViewPr varScale="1">
        <p:scale>
          <a:sx n="149" d="100"/>
          <a:sy n="149" d="100"/>
        </p:scale>
        <p:origin x="203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04E4A-07F7-4F02-B3E2-C3B5C1401BF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A09A4-BA45-48FF-8C1A-293E53166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685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BA09A4-BA45-48FF-8C1A-293E53166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4173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CC200-B011-41AA-8609-A1BE0DC489D1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601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130" y="107548"/>
            <a:ext cx="8850201" cy="858367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129" y="1056068"/>
            <a:ext cx="8850201" cy="5280338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446504"/>
            <a:ext cx="2057400" cy="365125"/>
          </a:xfrm>
        </p:spPr>
        <p:txBody>
          <a:bodyPr/>
          <a:lstStyle/>
          <a:p>
            <a:fld id="{3E2E4D9B-1EBE-44A6-8992-2EC634462286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446504"/>
            <a:ext cx="3086100" cy="365125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2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3D2B-089C-4252-874C-854C5B64B5CF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550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7D4F9-217A-4FDE-AD58-802607839E65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8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F6215-B618-4E68-93B7-F5656B0437FE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40499-000A-4C22-9173-0D5E83708981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327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0874-9225-4E21-AFFA-846381F6A863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593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56FD5-9875-4123-989D-C96BD5584C93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30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C6549-AC26-4CBD-A75A-4E70E46C8017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813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3AB8-7B4B-4A83-AC2D-18EB2EAEBAEA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98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414FA1-1AC8-464F-A480-C32AB9B6D9F7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371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A0CFC9C-E75B-4167-B19D-C5A0B621165E}" type="datetime1">
              <a:rPr lang="ko-KR" altLang="en-US" smtClean="0"/>
              <a:t>2026-07-02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29522C62-A2CC-4D4B-B236-5A4E2840B6D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895516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A7C3BF-458C-486B-8804-42E7E044747B}" type="datetime1">
              <a:rPr lang="ko-KR" altLang="en-US" smtClean="0"/>
              <a:t>2026-07-02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005F6450-F049-4D29-A92C-0D9D1E715E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50931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C05BF06-6246-4B11-913D-5CE98FB3E67E}" type="datetime1">
              <a:rPr lang="ko-KR" altLang="en-US" smtClean="0"/>
              <a:t>2026-07-02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DBF13599-2EB2-4F77-8517-1EB74F3E4DB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43602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4251AAC-9B5B-4BD2-A98C-397B8326CAB5}" type="datetime1">
              <a:rPr lang="ko-KR" altLang="en-US" smtClean="0"/>
              <a:t>2026-07-02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41178C87-A3B4-4516-BF8E-6B60B525655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60730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2CA087-878C-4D54-9921-D4B1B159EE37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844BEB-34CB-469D-8313-83BA6B52212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338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0835" y="1122363"/>
            <a:ext cx="8800935" cy="2387600"/>
          </a:xfrm>
        </p:spPr>
        <p:txBody>
          <a:bodyPr anchor="ctr">
            <a:normAutofit/>
          </a:bodyPr>
          <a:lstStyle/>
          <a:p>
            <a:r>
              <a:rPr lang="ko-KR" altLang="en-US" sz="5400" dirty="0" err="1"/>
              <a:t>벤디트</a:t>
            </a:r>
            <a:r>
              <a:rPr lang="ko-KR" altLang="en-US" sz="5400" dirty="0"/>
              <a:t> 문제</a:t>
            </a:r>
            <a:br>
              <a:rPr lang="en-US" altLang="ko-KR" sz="5400" dirty="0"/>
            </a:br>
            <a:r>
              <a:rPr lang="en-US" altLang="ko-KR" sz="5400" dirty="0"/>
              <a:t>(Bandit Problem)</a:t>
            </a:r>
            <a:endParaRPr lang="en-US" altLang="ko-KR" sz="28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n-US" altLang="ko-KR" sz="2800" dirty="0" err="1"/>
              <a:t>Jinhyun</a:t>
            </a:r>
            <a:r>
              <a:rPr lang="en-US" altLang="ko-KR" sz="2800" dirty="0"/>
              <a:t> </a:t>
            </a:r>
            <a:r>
              <a:rPr lang="en-US" altLang="ko-KR" sz="2800" dirty="0" err="1"/>
              <a:t>Ahn</a:t>
            </a:r>
            <a:endParaRPr lang="ko-KR" altLang="ko-KR" sz="2800" dirty="0"/>
          </a:p>
        </p:txBody>
      </p:sp>
    </p:spTree>
    <p:extLst>
      <p:ext uri="{BB962C8B-B14F-4D97-AF65-F5344CB8AC3E}">
        <p14:creationId xmlns:p14="http://schemas.microsoft.com/office/powerpoint/2010/main" val="3373252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0EA966-E811-97F7-9E4F-DF3DC3909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강화학습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CC2138-4B27-4C10-B200-3DC5A79A7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2400" dirty="0">
                <a:solidFill>
                  <a:srgbClr val="7030A0"/>
                </a:solidFill>
              </a:rPr>
              <a:t>에이전트</a:t>
            </a:r>
            <a:r>
              <a:rPr lang="en-US" altLang="ko-KR" sz="2400" dirty="0">
                <a:solidFill>
                  <a:srgbClr val="7030A0"/>
                </a:solidFill>
              </a:rPr>
              <a:t>(agent)</a:t>
            </a:r>
            <a:r>
              <a:rPr lang="en-US" altLang="ko-KR" sz="2400" dirty="0"/>
              <a:t>: </a:t>
            </a:r>
            <a:r>
              <a:rPr lang="ko-KR" altLang="en-US" sz="2400" dirty="0"/>
              <a:t>행동 주체</a:t>
            </a:r>
            <a:r>
              <a:rPr lang="en-US" altLang="ko-KR" sz="2400" dirty="0"/>
              <a:t> (e.g., </a:t>
            </a:r>
            <a:r>
              <a:rPr lang="ko-KR" altLang="en-US" sz="2400" dirty="0"/>
              <a:t>로봇</a:t>
            </a:r>
            <a:r>
              <a:rPr lang="en-US" altLang="ko-KR" sz="2400" dirty="0"/>
              <a:t>)</a:t>
            </a:r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에이전트는 </a:t>
            </a:r>
            <a:r>
              <a:rPr lang="ko-KR" altLang="en-US" sz="2400" dirty="0">
                <a:solidFill>
                  <a:srgbClr val="7030A0"/>
                </a:solidFill>
              </a:rPr>
              <a:t>환경</a:t>
            </a:r>
            <a:r>
              <a:rPr lang="en-US" altLang="ko-KR" sz="2400" dirty="0">
                <a:solidFill>
                  <a:srgbClr val="7030A0"/>
                </a:solidFill>
              </a:rPr>
              <a:t>(environment)</a:t>
            </a:r>
            <a:r>
              <a:rPr lang="ko-KR" altLang="en-US" sz="2400" dirty="0"/>
              <a:t>에 놓여져</a:t>
            </a:r>
            <a:r>
              <a:rPr lang="en-US" altLang="ko-KR" sz="2400" dirty="0"/>
              <a:t>, </a:t>
            </a:r>
            <a:r>
              <a:rPr lang="ko-KR" altLang="en-US" sz="2400" dirty="0"/>
              <a:t>환경의 </a:t>
            </a:r>
            <a:r>
              <a:rPr lang="ko-KR" altLang="en-US" sz="2400" dirty="0">
                <a:solidFill>
                  <a:srgbClr val="7030A0"/>
                </a:solidFill>
              </a:rPr>
              <a:t>상태</a:t>
            </a:r>
            <a:r>
              <a:rPr lang="en-US" altLang="ko-KR" sz="2400" dirty="0">
                <a:solidFill>
                  <a:srgbClr val="7030A0"/>
                </a:solidFill>
              </a:rPr>
              <a:t>(state)</a:t>
            </a:r>
            <a:r>
              <a:rPr lang="ko-KR" altLang="en-US" sz="2400" dirty="0"/>
              <a:t>를 관찰하고</a:t>
            </a:r>
            <a:r>
              <a:rPr lang="en-US" altLang="ko-KR" sz="2400" dirty="0"/>
              <a:t>, </a:t>
            </a:r>
            <a:r>
              <a:rPr lang="ko-KR" altLang="en-US" sz="2400" dirty="0"/>
              <a:t>상태에 적합한 </a:t>
            </a:r>
            <a:r>
              <a:rPr lang="ko-KR" altLang="en-US" sz="2400" dirty="0">
                <a:solidFill>
                  <a:srgbClr val="7030A0"/>
                </a:solidFill>
              </a:rPr>
              <a:t>행동</a:t>
            </a:r>
            <a:r>
              <a:rPr lang="en-US" altLang="ko-KR" sz="2400" dirty="0">
                <a:solidFill>
                  <a:srgbClr val="7030A0"/>
                </a:solidFill>
              </a:rPr>
              <a:t>(action)</a:t>
            </a:r>
            <a:r>
              <a:rPr lang="ko-KR" altLang="en-US" sz="2400" dirty="0"/>
              <a:t>을 취함</a:t>
            </a: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행동을 취한 결과로  환경의 상태가 바뀜</a:t>
            </a: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에이전트는 환경으로부터 </a:t>
            </a:r>
            <a:r>
              <a:rPr lang="ko-KR" altLang="en-US" sz="2400" dirty="0">
                <a:solidFill>
                  <a:srgbClr val="7030A0"/>
                </a:solidFill>
              </a:rPr>
              <a:t>보상</a:t>
            </a:r>
            <a:r>
              <a:rPr lang="en-US" altLang="ko-KR" sz="2400" dirty="0">
                <a:solidFill>
                  <a:srgbClr val="7030A0"/>
                </a:solidFill>
              </a:rPr>
              <a:t>(reward)</a:t>
            </a:r>
            <a:r>
              <a:rPr lang="ko-KR" altLang="en-US" sz="2400" dirty="0"/>
              <a:t>을 받음</a:t>
            </a:r>
            <a:endParaRPr lang="en-US" altLang="ko-KR" sz="2400" dirty="0"/>
          </a:p>
          <a:p>
            <a:pPr lvl="1" algn="just">
              <a:lnSpc>
                <a:spcPct val="100000"/>
              </a:lnSpc>
            </a:pPr>
            <a:r>
              <a:rPr lang="ko-KR" altLang="en-US" sz="2000" i="1" dirty="0"/>
              <a:t>보상은 행동에 대한 피드백일뿐 지도학습의 레이블</a:t>
            </a:r>
            <a:r>
              <a:rPr lang="en-US" altLang="ko-KR" sz="2000" i="1" dirty="0"/>
              <a:t>(</a:t>
            </a:r>
            <a:r>
              <a:rPr lang="ko-KR" altLang="en-US" sz="2000" i="1" dirty="0"/>
              <a:t>정답</a:t>
            </a:r>
            <a:r>
              <a:rPr lang="en-US" altLang="ko-KR" sz="2000" i="1" dirty="0"/>
              <a:t>)</a:t>
            </a:r>
            <a:r>
              <a:rPr lang="ko-KR" altLang="en-US" sz="2000" i="1" dirty="0"/>
              <a:t>과 다름</a:t>
            </a:r>
            <a:endParaRPr lang="en-US" altLang="ko-KR" sz="2000" i="1" dirty="0"/>
          </a:p>
          <a:p>
            <a:pPr algn="just">
              <a:lnSpc>
                <a:spcPct val="100000"/>
              </a:lnSpc>
            </a:pPr>
            <a:endParaRPr lang="en-US" altLang="ko-KR" sz="2400" b="1" dirty="0">
              <a:solidFill>
                <a:srgbClr val="FF0000"/>
              </a:solidFill>
            </a:endParaRPr>
          </a:p>
          <a:p>
            <a:pPr algn="just">
              <a:lnSpc>
                <a:spcPct val="100000"/>
              </a:lnSpc>
            </a:pPr>
            <a:r>
              <a:rPr lang="ko-KR" altLang="en-US" sz="2400" b="1" dirty="0">
                <a:solidFill>
                  <a:srgbClr val="FF0000"/>
                </a:solidFill>
              </a:rPr>
              <a:t>강화학습의 목표</a:t>
            </a:r>
            <a:r>
              <a:rPr lang="en-US" altLang="ko-KR" sz="2400" dirty="0"/>
              <a:t>: </a:t>
            </a:r>
            <a:r>
              <a:rPr lang="ko-KR" altLang="en-US" sz="2400" dirty="0"/>
              <a:t>에이전트가 얻는 보상의 총합을 극대화하는 행동 패턴을 익히는 것</a:t>
            </a: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3867E24-D9E8-77B3-41FB-945420E83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542" y="1555518"/>
            <a:ext cx="4448779" cy="125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142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4EC3BF-248C-05EE-6407-299E83D1A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강화학습의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0BA4E6-60CC-CBFA-475E-8071E862D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6A6F100-61AF-60EA-4122-1E093F08B2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4814" y="1687537"/>
            <a:ext cx="4724643" cy="1498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10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Hands-On-Reinforcement-Learning-With-Python/06. Multi-Armed Bandit Problem/6.1  MAB - Various Exploration Strategies.ipynb at master ·  sudharsan13296/Hands-On-Reinforcement-Learning-With-Python · GitHub">
            <a:extLst>
              <a:ext uri="{FF2B5EF4-FFF2-40B4-BE49-F238E27FC236}">
                <a16:creationId xmlns:a16="http://schemas.microsoft.com/office/drawing/2014/main" id="{70B59AB6-97B4-0E28-63AE-F4EA2FE4F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33" y="2278703"/>
            <a:ext cx="4029647" cy="187927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199BEC-A103-398F-0522-048D3CE0D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밴디트</a:t>
            </a:r>
            <a:r>
              <a:rPr lang="ko-KR" altLang="en-US" dirty="0"/>
              <a:t> 문제</a:t>
            </a:r>
            <a:r>
              <a:rPr lang="en-US" altLang="ko-KR" dirty="0"/>
              <a:t>(bandit problem)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B09CA4-27C8-460D-6612-422707878C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dirty="0" err="1"/>
              <a:t>밴디트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/>
              <a:t>슬롯머신</a:t>
            </a:r>
            <a:endParaRPr lang="en-US" altLang="ko-KR" dirty="0"/>
          </a:p>
          <a:p>
            <a:pPr lvl="1" algn="just">
              <a:lnSpc>
                <a:spcPct val="110000"/>
              </a:lnSpc>
            </a:pPr>
            <a:r>
              <a:rPr lang="ko-KR" altLang="en-US" dirty="0"/>
              <a:t>손잡이를 당기면 그림들이 한꺼번에 바뀌고</a:t>
            </a:r>
            <a:r>
              <a:rPr lang="en-US" altLang="ko-KR" dirty="0"/>
              <a:t>, </a:t>
            </a:r>
            <a:r>
              <a:rPr lang="ko-KR" altLang="en-US" dirty="0"/>
              <a:t>바뀐 그림들의 조합에 따라 얻는 코인의 액수가 </a:t>
            </a:r>
            <a:r>
              <a:rPr lang="ko-KR" altLang="en-US" dirty="0" err="1"/>
              <a:t>정해짐</a:t>
            </a:r>
            <a:endParaRPr lang="en-US" altLang="ko-KR" dirty="0"/>
          </a:p>
          <a:p>
            <a:pPr algn="just">
              <a:lnSpc>
                <a:spcPct val="110000"/>
              </a:lnSpc>
            </a:pPr>
            <a:endParaRPr lang="en-US" altLang="ko-KR" dirty="0"/>
          </a:p>
          <a:p>
            <a:pPr algn="just">
              <a:lnSpc>
                <a:spcPct val="110000"/>
              </a:lnSpc>
            </a:pPr>
            <a:endParaRPr lang="en-US" altLang="ko-KR" dirty="0"/>
          </a:p>
          <a:p>
            <a:pPr algn="just">
              <a:lnSpc>
                <a:spcPct val="110000"/>
              </a:lnSpc>
            </a:pPr>
            <a:endParaRPr lang="en-US" altLang="ko-KR" dirty="0"/>
          </a:p>
          <a:p>
            <a:pPr algn="just">
              <a:lnSpc>
                <a:spcPct val="110000"/>
              </a:lnSpc>
            </a:pPr>
            <a:r>
              <a:rPr lang="en-US" altLang="ko-KR" dirty="0"/>
              <a:t>Multi-armed bandit problem</a:t>
            </a:r>
          </a:p>
          <a:p>
            <a:pPr lvl="1" algn="just">
              <a:lnSpc>
                <a:spcPct val="110000"/>
              </a:lnSpc>
            </a:pPr>
            <a:r>
              <a:rPr lang="ko-KR" altLang="en-US" dirty="0"/>
              <a:t>행동 </a:t>
            </a:r>
            <a:r>
              <a:rPr lang="en-US" altLang="ko-KR" dirty="0"/>
              <a:t>= </a:t>
            </a:r>
            <a:r>
              <a:rPr lang="ko-KR" altLang="en-US" dirty="0"/>
              <a:t>여러 슬롯머신들 중 한 대를 선택</a:t>
            </a:r>
            <a:endParaRPr lang="en-US" altLang="ko-KR" dirty="0"/>
          </a:p>
          <a:p>
            <a:pPr lvl="1" algn="just">
              <a:lnSpc>
                <a:spcPct val="110000"/>
              </a:lnSpc>
            </a:pPr>
            <a:r>
              <a:rPr lang="ko-KR" altLang="en-US" dirty="0"/>
              <a:t>보상 </a:t>
            </a:r>
            <a:r>
              <a:rPr lang="en-US" altLang="ko-KR" dirty="0"/>
              <a:t>= </a:t>
            </a:r>
            <a:r>
              <a:rPr lang="ko-KR" altLang="en-US" dirty="0"/>
              <a:t>코인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76044D7-DCAE-489A-6173-F2F136B82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5747" y="5253228"/>
            <a:ext cx="4468457" cy="123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446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F57783-EAB3-6AB0-6F89-F238DFDF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좋은 슬롯머신이란</a:t>
            </a:r>
            <a:r>
              <a:rPr lang="en-US" altLang="ko-KR"/>
              <a:t>?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687DACF-A681-F509-15F5-F17C905521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ko-KR" altLang="en-US" sz="2400" dirty="0"/>
                  <a:t>슬롯머신이 두 대 있고 보상과 확률이 다음과 같이 설정</a:t>
                </a: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2400" dirty="0"/>
                  <a:t>수없이 많이 플레이하면 평균적으로 얻게 되는 코인 개수는 </a:t>
                </a:r>
                <a:r>
                  <a:rPr lang="ko-KR" altLang="en-US" sz="2400" dirty="0" err="1">
                    <a:solidFill>
                      <a:srgbClr val="7030A0"/>
                    </a:solidFill>
                  </a:rPr>
                  <a:t>기댓값</a:t>
                </a:r>
                <a:r>
                  <a:rPr lang="en-US" altLang="ko-KR" sz="2400" dirty="0">
                    <a:solidFill>
                      <a:srgbClr val="7030A0"/>
                    </a:solidFill>
                  </a:rPr>
                  <a:t>(expected</a:t>
                </a:r>
                <a:r>
                  <a:rPr lang="ko-KR" alt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altLang="ko-KR" sz="2400" dirty="0">
                    <a:solidFill>
                      <a:srgbClr val="7030A0"/>
                    </a:solidFill>
                  </a:rPr>
                  <a:t>value)</a:t>
                </a:r>
                <a:r>
                  <a:rPr lang="ko-KR" altLang="en-US" sz="2400" dirty="0"/>
                  <a:t>으로 수렴</a:t>
                </a: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1800" dirty="0"/>
                  <a:t>슬롯머신 </a:t>
                </a:r>
                <a:r>
                  <a:rPr lang="en-US" altLang="ko-KR" sz="1800" dirty="0"/>
                  <a:t>a: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×0.70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0.15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×0.1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03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𝟎𝟓</m:t>
                    </m:r>
                  </m:oMath>
                </a14:m>
                <a:endParaRPr lang="en-US" altLang="ko-KR" sz="1800" b="1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1800" dirty="0"/>
                  <a:t>슬롯머신 </a:t>
                </a:r>
                <a:r>
                  <a:rPr lang="en-US" altLang="ko-KR" sz="1800" dirty="0"/>
                  <a:t>b: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1×0.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40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5×0.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09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10×0.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01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𝟗𝟓</m:t>
                    </m:r>
                  </m:oMath>
                </a14:m>
                <a:endParaRPr lang="en-US" altLang="ko-KR" sz="1800" b="1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18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687DACF-A681-F509-15F5-F17C905521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4" t="-924" r="-10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>
            <a:extLst>
              <a:ext uri="{FF2B5EF4-FFF2-40B4-BE49-F238E27FC236}">
                <a16:creationId xmlns:a16="http://schemas.microsoft.com/office/drawing/2014/main" id="{FA4C857B-6C8B-D1F1-985C-9B760C8613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244" y="1746753"/>
            <a:ext cx="6045511" cy="119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749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3617B-85FB-E508-3343-A48025990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수식으로 표현하기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C783BFB-D176-388C-970C-1AD49750AB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US" altLang="ko-KR" sz="1800" dirty="0"/>
                  <a:t>Reward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={0, 1, 5, 10}</m:t>
                    </m:r>
                  </m:oMath>
                </a14:m>
                <a:endParaRPr lang="en-US" altLang="ko-KR" sz="1800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600" dirty="0"/>
                  <a:t>얻는 코인의 개수</a:t>
                </a:r>
                <a:endParaRPr lang="en-US" altLang="ko-KR" sz="1600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600" dirty="0"/>
                  <a:t>확률변수</a:t>
                </a:r>
                <a:r>
                  <a:rPr lang="en-US" altLang="ko-KR" sz="1600" dirty="0"/>
                  <a:t>(random variable): </a:t>
                </a:r>
                <a:r>
                  <a:rPr lang="ko-KR" altLang="en-US" sz="1600" dirty="0"/>
                  <a:t>얻는 값이 확률적으로 결정</a:t>
                </a:r>
                <a:endParaRPr lang="en-US" altLang="ko-KR" sz="16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1800" dirty="0"/>
              </a:p>
              <a:p>
                <a:pPr algn="just">
                  <a:lnSpc>
                    <a:spcPct val="100000"/>
                  </a:lnSpc>
                </a:pPr>
                <a:r>
                  <a:rPr lang="en-US" altLang="ko-KR" sz="1800" dirty="0"/>
                  <a:t>Action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altLang="ko-KR" sz="1800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600" dirty="0"/>
                  <a:t>슬롯머신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또는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/>
                  <a:t>를 선택</a:t>
                </a:r>
                <a:endParaRPr lang="en-US" altLang="ko-KR" sz="16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1800" dirty="0"/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800" i="1"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1800" dirty="0"/>
                  <a:t> : Action </a:t>
                </a: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ko-KR" altLang="en-US" sz="1800" i="1" smtClean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800" dirty="0"/>
                  <a:t> 행동 가치</a:t>
                </a:r>
                <a:r>
                  <a:rPr lang="en-US" altLang="ko-KR" sz="1800" dirty="0"/>
                  <a:t>(action value) </a:t>
                </a:r>
                <a:r>
                  <a:rPr lang="ko-KR" altLang="en-US" sz="1800" dirty="0"/>
                  <a:t>또는 보상 </a:t>
                </a:r>
                <a:r>
                  <a:rPr lang="ko-KR" altLang="en-US" sz="1800" dirty="0" err="1"/>
                  <a:t>기댓값</a:t>
                </a:r>
                <a:r>
                  <a:rPr lang="en-US" altLang="ko-KR" sz="1800" dirty="0"/>
                  <a:t>(expectation)</a:t>
                </a:r>
              </a:p>
              <a:p>
                <a:pPr lvl="1"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altLang="ko-KR" sz="1400" dirty="0"/>
                  <a:t> : </a:t>
                </a:r>
                <a:r>
                  <a:rPr lang="ko-KR" altLang="en-US" sz="1400" dirty="0"/>
                  <a:t>대문자일 경우 추정치를 의미</a:t>
                </a:r>
                <a:endParaRPr lang="en-US" altLang="ko-KR" sz="1400" dirty="0"/>
              </a:p>
              <a:p>
                <a:pPr algn="just">
                  <a:lnSpc>
                    <a:spcPct val="100000"/>
                  </a:lnSpc>
                </a:pPr>
                <a:endParaRPr lang="ko-KR" altLang="en-US" sz="18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C783BFB-D176-388C-970C-1AD49750AB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" t="-5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801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14D0A8-2B9F-254D-F4AB-8C1180D68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밴디트</a:t>
            </a:r>
            <a:r>
              <a:rPr lang="ko-KR" altLang="en-US" dirty="0"/>
              <a:t> 알고리즘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C99A3B-31BC-752F-F995-EE9D09744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100000"/>
              </a:lnSpc>
            </a:pPr>
            <a:r>
              <a:rPr lang="ko-KR" altLang="en-US" dirty="0"/>
              <a:t>만약 각 슬롯머신의 가치</a:t>
            </a:r>
            <a:r>
              <a:rPr lang="en-US" altLang="ko-KR" dirty="0"/>
              <a:t>(</a:t>
            </a:r>
            <a:r>
              <a:rPr lang="ko-KR" altLang="en-US" dirty="0"/>
              <a:t>보상 </a:t>
            </a:r>
            <a:r>
              <a:rPr lang="ko-KR" altLang="en-US" dirty="0" err="1"/>
              <a:t>기댓값</a:t>
            </a:r>
            <a:r>
              <a:rPr lang="en-US" altLang="ko-KR" dirty="0"/>
              <a:t>)</a:t>
            </a:r>
            <a:r>
              <a:rPr lang="ko-KR" altLang="en-US" dirty="0"/>
              <a:t>을 알면 플레이어는 가장 좋은 슬롯머신을 고를 수 있음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그러나 플레이어는 각 슬롯머신의 가치를 알 수 없음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따라서 플레이어는 각 슬롯머신의 가치를 추정해야 함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예를 들어</a:t>
            </a:r>
            <a:r>
              <a:rPr lang="en-US" altLang="ko-KR" dirty="0"/>
              <a:t>, </a:t>
            </a:r>
          </a:p>
          <a:p>
            <a:pPr lvl="1" algn="just">
              <a:lnSpc>
                <a:spcPct val="100000"/>
              </a:lnSpc>
            </a:pPr>
            <a:r>
              <a:rPr lang="ko-KR" altLang="en-US" dirty="0"/>
              <a:t>어떤 슬롯머신을 플레이한 후 코인 </a:t>
            </a:r>
            <a:r>
              <a:rPr lang="en-US" altLang="ko-KR" dirty="0"/>
              <a:t>1</a:t>
            </a:r>
            <a:r>
              <a:rPr lang="ko-KR" altLang="en-US" dirty="0"/>
              <a:t>개를 얻었음</a:t>
            </a:r>
            <a:endParaRPr lang="en-US" altLang="ko-KR" dirty="0"/>
          </a:p>
          <a:p>
            <a:pPr lvl="1" algn="just">
              <a:lnSpc>
                <a:spcPct val="100000"/>
              </a:lnSpc>
            </a:pPr>
            <a:r>
              <a:rPr lang="ko-KR" altLang="en-US" dirty="0"/>
              <a:t>코인 </a:t>
            </a:r>
            <a:r>
              <a:rPr lang="en-US" altLang="ko-KR" dirty="0"/>
              <a:t>1</a:t>
            </a:r>
            <a:r>
              <a:rPr lang="ko-KR" altLang="en-US" dirty="0"/>
              <a:t>개는 단서일 뿐이고 이 보상을 단서로 삼아 플레이어 스스로 추론하고 판단해야 함</a:t>
            </a:r>
          </a:p>
        </p:txBody>
      </p:sp>
    </p:spTree>
    <p:extLst>
      <p:ext uri="{BB962C8B-B14F-4D97-AF65-F5344CB8AC3E}">
        <p14:creationId xmlns:p14="http://schemas.microsoft.com/office/powerpoint/2010/main" val="32065927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0B10C5-71EF-EB54-DED8-2E105F6F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밴디트</a:t>
            </a:r>
            <a:r>
              <a:rPr lang="ko-KR" altLang="en-US" dirty="0"/>
              <a:t> 알고리즘 </a:t>
            </a:r>
            <a:r>
              <a:rPr lang="en-US" altLang="ko-KR" dirty="0"/>
              <a:t>– </a:t>
            </a:r>
            <a:r>
              <a:rPr lang="ko-KR" altLang="en-US" dirty="0"/>
              <a:t>가치추정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0878F87-ED0E-EEE6-CB64-5AC1F7A8B2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129" y="2773110"/>
                <a:ext cx="8850201" cy="3563296"/>
              </a:xfrm>
            </p:spPr>
            <p:txBody>
              <a:bodyPr>
                <a:normAutofit fontScale="92500" lnSpcReduction="10000"/>
              </a:bodyPr>
              <a:lstStyle/>
              <a:p>
                <a:pPr algn="just">
                  <a:lnSpc>
                    <a:spcPct val="110000"/>
                  </a:lnSpc>
                </a:pPr>
                <a:r>
                  <a:rPr lang="en-US" altLang="ko-KR" dirty="0"/>
                  <a:t>Action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dirty="0"/>
                  <a:t>의 가</a:t>
                </a:r>
                <a14:m>
                  <m:oMath xmlns:m="http://schemas.openxmlformats.org/officeDocument/2006/math">
                    <m:r>
                      <a:rPr lang="ko-KR" altLang="en-US" b="0" i="1" dirty="0">
                        <a:latin typeface="Cambria Math" panose="02040503050406030204" pitchFamily="18" charset="0"/>
                      </a:rPr>
                      <m:t>치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추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정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치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0+1+5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r>
                  <a:rPr lang="en-US" altLang="ko-KR" dirty="0"/>
                  <a:t>Action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dirty="0"/>
                  <a:t>의 가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치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추정치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0.33…</m:t>
                    </m:r>
                  </m:oMath>
                </a14:m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r>
                  <a:rPr lang="ko-KR" altLang="en-US" dirty="0"/>
                  <a:t>표본 평균</a:t>
                </a:r>
                <a:r>
                  <a:rPr lang="en-US" altLang="ko-KR" dirty="0"/>
                  <a:t>(sample mean): </a:t>
                </a:r>
                <a:r>
                  <a:rPr lang="ko-KR" altLang="en-US" dirty="0"/>
                  <a:t>실제 획득한 보상의 평균</a:t>
                </a:r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r>
                  <a:rPr lang="ko-KR" altLang="en-US" dirty="0"/>
                  <a:t>큰 수의 법칙</a:t>
                </a:r>
                <a:r>
                  <a:rPr lang="en-US" altLang="ko-KR" dirty="0"/>
                  <a:t>(law of large numbers): </a:t>
                </a:r>
                <a:r>
                  <a:rPr lang="ko-KR" altLang="en-US" dirty="0"/>
                  <a:t>표본 평균은 샘플링 횟수가 늘어날 수록 </a:t>
                </a:r>
                <a:r>
                  <a:rPr lang="ko-KR" altLang="en-US" dirty="0" err="1"/>
                  <a:t>실제값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보상의 </a:t>
                </a:r>
                <a:r>
                  <a:rPr lang="ko-KR" altLang="en-US" dirty="0" err="1"/>
                  <a:t>기댓값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에 </a:t>
                </a:r>
                <a:r>
                  <a:rPr lang="ko-KR" altLang="en-US" dirty="0" err="1"/>
                  <a:t>가까워짐</a:t>
                </a:r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0878F87-ED0E-EEE6-CB64-5AC1F7A8B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129" y="2773110"/>
                <a:ext cx="8850201" cy="3563296"/>
              </a:xfrm>
              <a:blipFill>
                <a:blip r:embed="rId2"/>
                <a:stretch>
                  <a:fillRect l="-1102" r="-12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F37FC57E-31D6-7379-AF86-8B9EAD4998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7700" y="965915"/>
            <a:ext cx="4407126" cy="1409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272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49A644-1008-C228-DFD6-E1ABF4382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평균을 구하는 코드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4EC7F70-E144-D08A-27A1-B88F2C12F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1800" dirty="0"/>
                  <a:t>하나의 행동</a:t>
                </a:r>
                <a:r>
                  <a:rPr lang="en-US" altLang="ko-KR" sz="1800" dirty="0"/>
                  <a:t>(</a:t>
                </a:r>
                <a:r>
                  <a:rPr lang="ko-KR" altLang="en-US" sz="1800" dirty="0"/>
                  <a:t>슬롯머신 한 대만 선택</a:t>
                </a:r>
                <a:r>
                  <a:rPr lang="en-US" altLang="ko-KR" sz="1800" dirty="0"/>
                  <a:t>)</a:t>
                </a:r>
                <a:r>
                  <a:rPr lang="ko-KR" altLang="en-US" sz="1800" dirty="0"/>
                  <a:t>만을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800" dirty="0"/>
                  <a:t>번 플레이했을 때의 행동 가치 추정치</a:t>
                </a:r>
                <a:endParaRPr lang="en-US" altLang="ko-KR" sz="1800" dirty="0"/>
              </a:p>
              <a:p>
                <a:endParaRPr lang="en-US" altLang="ko-KR" sz="1800" dirty="0"/>
              </a:p>
              <a:p>
                <a:endParaRPr lang="en-US" altLang="ko-KR" sz="1800" dirty="0"/>
              </a:p>
              <a:p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800" dirty="0"/>
                  <a:t>개의 보상에 대한 표본 평균</a:t>
                </a:r>
                <a:endParaRPr lang="en-US" altLang="ko-KR" sz="1800" dirty="0"/>
              </a:p>
              <a:p>
                <a:endParaRPr lang="en-US" altLang="ko-KR" sz="1800" dirty="0"/>
              </a:p>
              <a:p>
                <a:endParaRPr lang="en-US" altLang="ko-KR" sz="1800" dirty="0"/>
              </a:p>
              <a:p>
                <a:pPr marL="0" indent="0">
                  <a:buNone/>
                </a:pPr>
                <a:endParaRPr lang="en-US" altLang="ko-KR" sz="1800" dirty="0"/>
              </a:p>
              <a:p>
                <a:endParaRPr lang="ko-KR" altLang="en-US" sz="18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4EC7F70-E144-D08A-27A1-B88F2C12F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" t="-11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1AF3A-29DF-07EA-49DF-3E122308E947}"/>
                  </a:ext>
                </a:extLst>
              </p:cNvPr>
              <p:cNvSpPr txBox="1"/>
              <p:nvPr/>
            </p:nvSpPr>
            <p:spPr>
              <a:xfrm>
                <a:off x="2189859" y="1382085"/>
                <a:ext cx="3228175" cy="610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…+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1AF3A-29DF-07EA-49DF-3E122308E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9859" y="1382085"/>
                <a:ext cx="3228175" cy="6108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509EA50F-EC34-5E60-B91F-3240F920C1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318" y="2211570"/>
            <a:ext cx="3959334" cy="384748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44ECCD-989E-275D-29EF-EAFE9AB3AB2F}"/>
              </a:ext>
            </a:extLst>
          </p:cNvPr>
          <p:cNvSpPr txBox="1"/>
          <p:nvPr/>
        </p:nvSpPr>
        <p:spPr>
          <a:xfrm>
            <a:off x="5181220" y="4524147"/>
            <a:ext cx="3844942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800" dirty="0">
                <a:solidFill>
                  <a:srgbClr val="FF0000"/>
                </a:solidFill>
              </a:rPr>
              <a:t>플레이 횟수가 늘어날수록 메모리와 </a:t>
            </a:r>
            <a:r>
              <a:rPr lang="ko-KR" altLang="en-US" sz="1800" dirty="0" err="1">
                <a:solidFill>
                  <a:srgbClr val="FF0000"/>
                </a:solidFill>
              </a:rPr>
              <a:t>계산량이</a:t>
            </a:r>
            <a:r>
              <a:rPr lang="ko-KR" altLang="en-US" sz="1800" dirty="0">
                <a:solidFill>
                  <a:srgbClr val="FF0000"/>
                </a:solidFill>
              </a:rPr>
              <a:t> 커짐</a:t>
            </a:r>
            <a:endParaRPr lang="en-US" altLang="ko-KR" sz="18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4D618F-CC27-D714-B336-3E93DBE26DC4}"/>
                  </a:ext>
                </a:extLst>
              </p:cNvPr>
              <p:cNvSpPr txBox="1"/>
              <p:nvPr/>
            </p:nvSpPr>
            <p:spPr>
              <a:xfrm>
                <a:off x="6023643" y="1687521"/>
                <a:ext cx="286424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600" dirty="0"/>
                  <a:t>:= </a:t>
                </a:r>
                <a:r>
                  <a:rPr lang="en-US" altLang="ko-KR" sz="1600" dirty="0" err="1"/>
                  <a:t>i</a:t>
                </a:r>
                <a:r>
                  <a:rPr lang="ko-KR" altLang="en-US" sz="1600" dirty="0"/>
                  <a:t>번째 플레이 시 받는 보상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4D618F-CC27-D714-B336-3E93DBE26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643" y="1687521"/>
                <a:ext cx="2864241" cy="338554"/>
              </a:xfrm>
              <a:prstGeom prst="rect">
                <a:avLst/>
              </a:prstGeom>
              <a:blipFill>
                <a:blip r:embed="rId5"/>
                <a:stretch>
                  <a:fillRect t="-7273" r="-213" b="-254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445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8BD1E-EC73-ABD9-4CDF-8DCFFA8CA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평균을 구하는 코드를 개선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D79FF8F-F5A9-0FC9-B05D-DD0DC974BE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altLang="ko-KR" sz="2000" dirty="0"/>
                  <a:t> </a:t>
                </a:r>
                <a:r>
                  <a:rPr lang="ko-KR" altLang="en-US" sz="2000" dirty="0"/>
                  <a:t>번째 시점의 행동 가치 추정치</a:t>
                </a: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2000" dirty="0"/>
                  <a:t>양변에 </a:t>
                </a:r>
                <a:r>
                  <a:rPr lang="en-US" altLang="ko-KR" sz="2000" dirty="0"/>
                  <a:t>(n-1)</a:t>
                </a:r>
                <a:r>
                  <a:rPr lang="ko-KR" altLang="en-US" sz="2000" dirty="0"/>
                  <a:t>을 곱함</a:t>
                </a: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sz="2000" dirty="0"/>
                  <a:t>을 다시 작성하여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ko-KR" altLang="en-US" sz="2000" dirty="0"/>
                  <a:t>의 관계 도출</a:t>
                </a:r>
              </a:p>
              <a:p>
                <a:pPr algn="just">
                  <a:lnSpc>
                    <a:spcPct val="100000"/>
                  </a:lnSpc>
                </a:pPr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D79FF8F-F5A9-0FC9-B05D-DD0DC974BE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0" t="-5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A58B56B-29FF-C09D-27F1-9D8056A19885}"/>
                  </a:ext>
                </a:extLst>
              </p:cNvPr>
              <p:cNvSpPr txBox="1"/>
              <p:nvPr/>
            </p:nvSpPr>
            <p:spPr>
              <a:xfrm>
                <a:off x="1818117" y="1600275"/>
                <a:ext cx="4619002" cy="610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…+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A58B56B-29FF-C09D-27F1-9D8056A19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117" y="1600275"/>
                <a:ext cx="4619002" cy="6108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25490-5872-076A-F77D-69E5D529B3B6}"/>
                  </a:ext>
                </a:extLst>
              </p:cNvPr>
              <p:cNvSpPr txBox="1"/>
              <p:nvPr/>
            </p:nvSpPr>
            <p:spPr>
              <a:xfrm>
                <a:off x="2036034" y="2794004"/>
                <a:ext cx="46190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=(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−1)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25490-5872-076A-F77D-69E5D529B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034" y="2794004"/>
                <a:ext cx="4619002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04E2CD5B-8D22-0865-4571-97FBD6BC4F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64" r="10536"/>
          <a:stretch>
            <a:fillRect/>
          </a:stretch>
        </p:blipFill>
        <p:spPr>
          <a:xfrm>
            <a:off x="444381" y="3784396"/>
            <a:ext cx="4221624" cy="23110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F443CC-759F-78AC-73C6-DD714F49808A}"/>
              </a:ext>
            </a:extLst>
          </p:cNvPr>
          <p:cNvSpPr txBox="1"/>
          <p:nvPr/>
        </p:nvSpPr>
        <p:spPr>
          <a:xfrm>
            <a:off x="6148698" y="2794004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식 </a:t>
            </a:r>
            <a:r>
              <a:rPr lang="en-US" altLang="ko-KR" dirty="0"/>
              <a:t>1.2]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ADDB346-B779-987A-3F67-63A0EF689FFD}"/>
              </a:ext>
            </a:extLst>
          </p:cNvPr>
          <p:cNvSpPr/>
          <p:nvPr/>
        </p:nvSpPr>
        <p:spPr>
          <a:xfrm>
            <a:off x="487926" y="3948157"/>
            <a:ext cx="346106" cy="3589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3EFFB94-0874-5F69-34B2-DC904CCDEFA8}"/>
              </a:ext>
            </a:extLst>
          </p:cNvPr>
          <p:cNvSpPr/>
          <p:nvPr/>
        </p:nvSpPr>
        <p:spPr>
          <a:xfrm>
            <a:off x="1718520" y="5712201"/>
            <a:ext cx="452927" cy="3589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15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52F31C04-7DA5-8CC7-1831-79BE4B7A9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63"/>
          <a:stretch>
            <a:fillRect/>
          </a:stretch>
        </p:blipFill>
        <p:spPr>
          <a:xfrm>
            <a:off x="4785627" y="2910063"/>
            <a:ext cx="3670489" cy="178623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E2A904-3C49-4E94-3776-72794219B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증분 구현</a:t>
            </a:r>
            <a:r>
              <a:rPr lang="en-US" altLang="ko-KR" dirty="0"/>
              <a:t>(incremental implementation)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48F819F-2310-8941-F4A7-5605E0E9B1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99503" y="1056068"/>
                <a:ext cx="5502827" cy="1695678"/>
              </a:xfrm>
            </p:spPr>
            <p:txBody>
              <a:bodyPr>
                <a:normAutofit fontScale="85000" lnSpcReduction="20000"/>
              </a:bodyPr>
              <a:lstStyle/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altLang="ko-KR" sz="1200" i="1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20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1200" dirty="0">
                    <a:latin typeface="Cambria Math" panose="02040503050406030204" pitchFamily="18" charset="0"/>
                  </a:rPr>
                  <a:t>기존의 추정치</a:t>
                </a:r>
                <a:r>
                  <a:rPr lang="en-US" altLang="ko-KR" sz="1200" i="1" dirty="0">
                    <a:latin typeface="Cambria Math" panose="02040503050406030204" pitchFamily="18" charset="0"/>
                  </a:rPr>
                  <a:t> </a:t>
                </a:r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sz="1200" i="1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200" dirty="0">
                    <a:latin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200" dirty="0">
                    <a:latin typeface="Cambria Math" panose="02040503050406030204" pitchFamily="18" charset="0"/>
                  </a:rPr>
                  <a:t>번째 행동을 취한 후 실제 받은 보상</a:t>
                </a:r>
                <a:endParaRPr lang="en-US" altLang="ko-KR" sz="1200" dirty="0">
                  <a:latin typeface="Cambria Math" panose="02040503050406030204" pitchFamily="18" charset="0"/>
                </a:endParaRPr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12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altLang="ko-KR" sz="1200" i="1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20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1200" dirty="0">
                    <a:latin typeface="Cambria Math" panose="02040503050406030204" pitchFamily="18" charset="0"/>
                  </a:rPr>
                  <a:t>기존의 추정치를 어느 방향으로 얼마나 수정해야 하는지를 알려주는 오차 값</a:t>
                </a:r>
                <a:endParaRPr lang="en-US" altLang="ko-KR" sz="1200" dirty="0">
                  <a:latin typeface="Cambria Math" panose="02040503050406030204" pitchFamily="18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800" dirty="0">
                    <a:latin typeface="Cambria Math" panose="02040503050406030204" pitchFamily="18" charset="0"/>
                  </a:rPr>
                  <a:t>양수</a:t>
                </a:r>
                <a:r>
                  <a:rPr lang="en-US" altLang="ko-KR" sz="80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800" dirty="0">
                    <a:latin typeface="Cambria Math" panose="02040503050406030204" pitchFamily="18" charset="0"/>
                  </a:rPr>
                  <a:t>예상보다 보상이 잘 나옴</a:t>
                </a:r>
                <a:endParaRPr lang="en-US" altLang="ko-KR" sz="800" dirty="0">
                  <a:latin typeface="Cambria Math" panose="02040503050406030204" pitchFamily="18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800" dirty="0">
                    <a:latin typeface="Cambria Math" panose="02040503050406030204" pitchFamily="18" charset="0"/>
                  </a:rPr>
                  <a:t>음수</a:t>
                </a:r>
                <a:r>
                  <a:rPr lang="en-US" altLang="ko-KR" sz="80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800" dirty="0">
                    <a:latin typeface="Cambria Math" panose="02040503050406030204" pitchFamily="18" charset="0"/>
                  </a:rPr>
                  <a:t>예상보다 보상이 잘 안 나옴</a:t>
                </a:r>
                <a:endParaRPr lang="en-US" altLang="ko-KR" sz="800" dirty="0">
                  <a:latin typeface="Cambria Math" panose="02040503050406030204" pitchFamily="18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1200" dirty="0"/>
                  <a:t>오차 값을 그대로 갱신할 경우 너무 급격히 변화하기 때문 오차 값에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ko-KR" altLang="en-US" sz="1200" dirty="0"/>
                  <a:t>를 곱한 값만큼 </a:t>
                </a:r>
                <a:endParaRPr lang="en-US" altLang="ko-KR" sz="12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1200" dirty="0" err="1"/>
                  <a:t>학습률</a:t>
                </a:r>
                <a:r>
                  <a:rPr lang="en-US" altLang="ko-KR" sz="1200" dirty="0"/>
                  <a:t>(learning rate):</a:t>
                </a:r>
                <a:r>
                  <a:rPr lang="ko-KR" altLang="en-US" sz="1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ko-KR" altLang="en-US" sz="1200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48F819F-2310-8941-F4A7-5605E0E9B1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99503" y="1056068"/>
                <a:ext cx="5502827" cy="1695678"/>
              </a:xfrm>
              <a:blipFill>
                <a:blip r:embed="rId3"/>
                <a:stretch>
                  <a:fillRect t="-17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01E5645D-35E4-2E66-D70C-0F5E51394D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24" r="32622"/>
          <a:stretch>
            <a:fillRect/>
          </a:stretch>
        </p:blipFill>
        <p:spPr>
          <a:xfrm>
            <a:off x="399882" y="1213503"/>
            <a:ext cx="2566651" cy="10148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F86F073-2272-D1AE-E250-1222381564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73"/>
          <a:stretch>
            <a:fillRect/>
          </a:stretch>
        </p:blipFill>
        <p:spPr>
          <a:xfrm>
            <a:off x="385497" y="2704964"/>
            <a:ext cx="3920018" cy="214587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0C8E64-C743-D187-A0EE-95EE93E1DD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097" y="4776013"/>
            <a:ext cx="4097744" cy="19744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BFF9530-79CF-9B51-39F2-14551556CFA0}"/>
              </a:ext>
            </a:extLst>
          </p:cNvPr>
          <p:cNvSpPr txBox="1"/>
          <p:nvPr/>
        </p:nvSpPr>
        <p:spPr>
          <a:xfrm>
            <a:off x="3086672" y="2977319"/>
            <a:ext cx="684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오차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002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DF412-BC0E-6828-2DE0-AB0933B9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3600" dirty="0"/>
              <a:t>플레이이가 어떤 전략을 취해야 하는가</a:t>
            </a:r>
            <a:r>
              <a:rPr lang="en-US" altLang="ko-KR" sz="3600" dirty="0"/>
              <a:t>?</a:t>
            </a:r>
            <a:endParaRPr lang="ko-KR" alt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32728F0-DB9B-16F0-4C87-DC88748CE7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ko-KR" altLang="en-US" sz="2000" dirty="0"/>
                  <a:t>탐욕정책</a:t>
                </a:r>
                <a:r>
                  <a:rPr lang="en-US" altLang="ko-KR" sz="2000" dirty="0"/>
                  <a:t>(greedy policy): </a:t>
                </a:r>
                <a:r>
                  <a:rPr lang="ko-KR" altLang="en-US" sz="2000" dirty="0"/>
                  <a:t>각각을 플레이해보고 가치 추정치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실제 획득한 보상의 평균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가 가장 큰 슬롯머신을 선택</a:t>
                </a: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2000" dirty="0"/>
                  <a:t>플레이어에게 다음의 두 가지 행동을 요구</a:t>
                </a:r>
                <a:endParaRPr lang="en-US" altLang="ko-KR" sz="2000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800" dirty="0"/>
                  <a:t>활용</a:t>
                </a:r>
                <a:r>
                  <a:rPr lang="en-US" altLang="ko-KR" sz="1800" dirty="0"/>
                  <a:t>(exploitation): </a:t>
                </a:r>
                <a:r>
                  <a:rPr lang="ko-KR" altLang="en-US" sz="1800" dirty="0"/>
                  <a:t>지금까지 실제로 플레이한 결과를 바탕으로 가장 좋다고 생각되는 슬롯머신을 플레이</a:t>
                </a:r>
                <a:r>
                  <a:rPr lang="en-US" altLang="ko-KR" sz="1800" dirty="0"/>
                  <a:t>(</a:t>
                </a:r>
                <a:r>
                  <a:rPr lang="ko-KR" altLang="en-US" sz="1800" dirty="0"/>
                  <a:t>탐욕정책</a:t>
                </a:r>
                <a:r>
                  <a:rPr lang="en-US" altLang="ko-KR" sz="1800" dirty="0"/>
                  <a:t>)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800" dirty="0"/>
                  <a:t>탐색</a:t>
                </a:r>
                <a:r>
                  <a:rPr lang="en-US" altLang="ko-KR" sz="1800" dirty="0"/>
                  <a:t>(exploration): </a:t>
                </a:r>
                <a:r>
                  <a:rPr lang="ko-KR" altLang="en-US" sz="1800" dirty="0"/>
                  <a:t>슬롯머신의 가치를 정확하게 추정하기 위해 다양한 슬롯머신을 시도</a:t>
                </a:r>
                <a:endParaRPr lang="en-US" altLang="ko-KR" sz="18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ko-KR" altLang="en-US" sz="2000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altLang="ko-KR" sz="2000" b="1" dirty="0">
                    <a:solidFill>
                      <a:srgbClr val="7030A0"/>
                    </a:solidFill>
                  </a:rPr>
                  <a:t>-</a:t>
                </a:r>
                <a:r>
                  <a:rPr lang="ko-KR" altLang="en-US" sz="2000" b="1" dirty="0">
                    <a:solidFill>
                      <a:srgbClr val="7030A0"/>
                    </a:solidFill>
                  </a:rPr>
                  <a:t>탐욕 정책</a:t>
                </a:r>
                <a:r>
                  <a:rPr lang="en-US" altLang="ko-KR" sz="2000" dirty="0"/>
                  <a:t>: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ko-KR" altLang="en-US" sz="2000" dirty="0"/>
                  <a:t>의 확률로 </a:t>
                </a:r>
                <a:r>
                  <a:rPr lang="en-US" altLang="ko-KR" sz="2000" dirty="0"/>
                  <a:t>‘</a:t>
                </a:r>
                <a:r>
                  <a:rPr lang="ko-KR" altLang="en-US" sz="2000" dirty="0"/>
                  <a:t>탐색</a:t>
                </a:r>
                <a:r>
                  <a:rPr lang="en-US" altLang="ko-KR" sz="2000" dirty="0"/>
                  <a:t>’</a:t>
                </a:r>
                <a:r>
                  <a:rPr lang="ko-KR" altLang="en-US" sz="2000" dirty="0"/>
                  <a:t>을 하고 나머지 </a:t>
                </a:r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2000" dirty="0"/>
                  <a:t> 확률로 </a:t>
                </a:r>
                <a:r>
                  <a:rPr lang="en-US" altLang="ko-KR" sz="2000" dirty="0"/>
                  <a:t>‘</a:t>
                </a:r>
                <a:r>
                  <a:rPr lang="ko-KR" altLang="en-US" sz="2000" dirty="0"/>
                  <a:t>활용</a:t>
                </a:r>
                <a:r>
                  <a:rPr lang="en-US" altLang="ko-KR" sz="2000" dirty="0"/>
                  <a:t>’</a:t>
                </a:r>
                <a:endParaRPr lang="ko-KR" altLang="en-US" sz="2000" dirty="0"/>
              </a:p>
              <a:p>
                <a:pPr algn="r">
                  <a:lnSpc>
                    <a:spcPct val="100000"/>
                  </a:lnSpc>
                </a:pPr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32728F0-DB9B-16F0-4C87-DC88748CE7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0" t="-577" r="-6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67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AEF97-A208-8E0C-6941-BDB35720C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슬롯머신 클래스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657F330-77ED-17AE-8204-912402F0C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364" y="3429000"/>
            <a:ext cx="3353268" cy="269595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A4BB18B-8931-9E3C-4801-2BCEDAE34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26" y="1533755"/>
            <a:ext cx="5262612" cy="2748320"/>
          </a:xfrm>
          <a:prstGeom prst="rect">
            <a:avLst/>
          </a:prstGeom>
        </p:spPr>
      </p:pic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D03726C2-5770-99C3-30A8-D7D8C039D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8969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86B67-B8DD-9DCA-40B4-CA240086C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4AE88E-BD59-5A2F-1890-19B6F44CB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각 슬롯머신의 가치 추정치를 구함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90E2A9-0A6E-19D2-95D9-30BB7CE6B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14D1BD3-54F9-1D12-EFC7-365D6FE45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376" y="1491241"/>
            <a:ext cx="5379495" cy="487537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1903689-4531-ADD2-41DD-D732F5AA5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09" y="1025859"/>
            <a:ext cx="3349288" cy="328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20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0BF48A-C250-4039-7B2C-51273E64A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에이전트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60DA0A-238F-B223-85D0-88C129E60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51F363-2AE9-B081-D1B4-CF7A14D7C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469" y="1523459"/>
            <a:ext cx="8392696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720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716D46-FBAE-D154-AC5C-63554925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행동 실행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92617F-2989-FFB1-FC2E-3859DA41A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7DF38BB-F540-9F92-B77F-8C8F089D2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64" y="1510082"/>
            <a:ext cx="5303903" cy="333111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5346D4C-05CB-E456-EC7E-69C3A6619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032" y="458614"/>
            <a:ext cx="3600000" cy="272364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C7CF44A-046C-B8CE-0495-6C831F521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032" y="3387903"/>
            <a:ext cx="3600000" cy="274285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2B8FB8E-5192-C6C2-9AAE-AA28619ACD6B}"/>
                  </a:ext>
                </a:extLst>
              </p:cNvPr>
              <p:cNvSpPr txBox="1"/>
              <p:nvPr/>
            </p:nvSpPr>
            <p:spPr>
              <a:xfrm>
                <a:off x="1521151" y="5385359"/>
                <a:ext cx="362791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:r>
                  <a:rPr lang="ko-KR" altLang="en-US" dirty="0"/>
                  <a:t>단계를 거듭할 수록 승률이 높아짐</a:t>
                </a:r>
                <a:endParaRPr lang="en-US" altLang="ko-KR" dirty="0"/>
              </a:p>
              <a:p>
                <a:pPr algn="just"/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altLang="ko-KR" dirty="0"/>
                  <a:t>-</a:t>
                </a:r>
                <a:r>
                  <a:rPr lang="ko-KR" altLang="en-US" dirty="0"/>
                  <a:t>탐욕 정책의 학습의 효과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2B8FB8E-5192-C6C2-9AAE-AA28619AC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151" y="5385359"/>
                <a:ext cx="3627916" cy="646331"/>
              </a:xfrm>
              <a:prstGeom prst="rect">
                <a:avLst/>
              </a:prstGeom>
              <a:blipFill>
                <a:blip r:embed="rId5"/>
                <a:stretch>
                  <a:fillRect l="-1513" t="-6604" r="-672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304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4FD31-8B19-6556-B32A-9F975BDAC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실험할 때마다 결과가 다름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0D378D-0CDF-5844-3E03-2128F62C6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100000"/>
              </a:lnSpc>
            </a:pPr>
            <a:r>
              <a:rPr lang="ko-KR" altLang="en-US" dirty="0"/>
              <a:t>무작위성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한번의 실험만으로 판단하는 것은 의미가 없고 알고리즘의 </a:t>
            </a:r>
            <a:r>
              <a:rPr lang="en-US" altLang="ko-KR" dirty="0"/>
              <a:t>‘</a:t>
            </a:r>
            <a:r>
              <a:rPr lang="ko-KR" altLang="en-US" dirty="0"/>
              <a:t>평균적인 우수성</a:t>
            </a:r>
            <a:r>
              <a:rPr lang="en-US" altLang="ko-KR" dirty="0"/>
              <a:t>＇</a:t>
            </a:r>
            <a:r>
              <a:rPr lang="ko-KR" altLang="en-US" dirty="0"/>
              <a:t>을 평가해야 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62C9429-BE30-F744-A00B-CE1A885C7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561" y="3067940"/>
            <a:ext cx="3600000" cy="27672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AD9661-30BD-4F09-2332-F03333993EA3}"/>
              </a:ext>
            </a:extLst>
          </p:cNvPr>
          <p:cNvSpPr txBox="1"/>
          <p:nvPr/>
        </p:nvSpPr>
        <p:spPr>
          <a:xfrm>
            <a:off x="1379439" y="5947303"/>
            <a:ext cx="21755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10</a:t>
            </a:r>
            <a:r>
              <a:rPr lang="ko-KR" altLang="en-US" sz="1200" dirty="0"/>
              <a:t>번 실험의 결과를 모두 표현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DD1CE9-21A5-9EA5-A61F-D8538806A0C4}"/>
              </a:ext>
            </a:extLst>
          </p:cNvPr>
          <p:cNvSpPr txBox="1"/>
          <p:nvPr/>
        </p:nvSpPr>
        <p:spPr>
          <a:xfrm>
            <a:off x="6075355" y="5941135"/>
            <a:ext cx="18325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10</a:t>
            </a:r>
            <a:r>
              <a:rPr lang="ko-KR" altLang="en-US" sz="1200" dirty="0"/>
              <a:t>번 실험의 결과의 평균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A776E78-23CE-6625-CC71-5C3E7DC1C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45" y="3034672"/>
            <a:ext cx="3600000" cy="276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59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D6515BCB-FD9E-A6A4-BE48-177AC36E934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값에 대한 실험</a:t>
                </a:r>
              </a:p>
            </p:txBody>
          </p:sp>
        </mc:Choice>
        <mc:Fallback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D6515BCB-FD9E-A6A4-BE48-177AC36E93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571" b="-242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E4B6386-C7DA-5C57-35A3-A030186832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9937" y="1056068"/>
                <a:ext cx="3742394" cy="5280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ko-KR" altLang="en-US" sz="1800" i="1" dirty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ko-KR" sz="1800" dirty="0"/>
                  <a:t> = 0.01 : </a:t>
                </a:r>
                <a:r>
                  <a:rPr lang="ko-KR" altLang="en-US" sz="1800" dirty="0"/>
                  <a:t>상승 속도는 가장 느림</a:t>
                </a:r>
                <a:r>
                  <a:rPr lang="en-US" altLang="ko-KR" sz="1800" dirty="0"/>
                  <a:t>. </a:t>
                </a:r>
                <a:r>
                  <a:rPr lang="ko-KR" altLang="en-US" sz="1800" dirty="0"/>
                  <a:t>탐색 비율이 너무 작아서 최적의 </a:t>
                </a:r>
                <a:r>
                  <a:rPr lang="ko-KR" altLang="en-US" sz="1800" dirty="0" err="1"/>
                  <a:t>머신을</a:t>
                </a:r>
                <a:r>
                  <a:rPr lang="ko-KR" altLang="en-US" sz="1800" dirty="0"/>
                  <a:t> 찾을 확률이 낮음</a:t>
                </a:r>
                <a:endParaRPr lang="en-US" altLang="ko-KR" sz="18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1800" dirty="0"/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ko-KR" sz="1800" dirty="0"/>
                  <a:t> = 0.03: </a:t>
                </a:r>
                <a:r>
                  <a:rPr lang="ko-KR" altLang="en-US" sz="1800" dirty="0"/>
                  <a:t>승률이 빠르게 상승하지만 상승세가 급격히 꺾임</a:t>
                </a:r>
                <a:r>
                  <a:rPr lang="en-US" altLang="ko-KR" sz="1800" dirty="0"/>
                  <a:t>. 30%</a:t>
                </a:r>
                <a:r>
                  <a:rPr lang="ko-KR" altLang="en-US" sz="1800" dirty="0"/>
                  <a:t>라는 높은 확률로 탐색을 시도하기 때문에 최적의 </a:t>
                </a:r>
                <a:r>
                  <a:rPr lang="ko-KR" altLang="en-US" sz="1800" dirty="0" err="1"/>
                  <a:t>머신을</a:t>
                </a:r>
                <a:r>
                  <a:rPr lang="ko-KR" altLang="en-US" sz="1800" dirty="0"/>
                  <a:t> 선택하는 </a:t>
                </a:r>
                <a:r>
                  <a:rPr lang="en-US" altLang="ko-KR" sz="1800" dirty="0"/>
                  <a:t>‘</a:t>
                </a:r>
                <a:r>
                  <a:rPr lang="ko-KR" altLang="en-US" sz="1800" dirty="0"/>
                  <a:t>활용의 비율이 너무 낮기 때문</a:t>
                </a:r>
                <a:r>
                  <a:rPr lang="en-US" altLang="ko-KR" sz="1800" dirty="0"/>
                  <a:t>‘</a:t>
                </a:r>
              </a:p>
              <a:p>
                <a:pPr algn="just">
                  <a:lnSpc>
                    <a:spcPct val="100000"/>
                  </a:lnSpc>
                </a:pPr>
                <a:endParaRPr lang="ko-KR" altLang="en-US" sz="18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E4B6386-C7DA-5C57-35A3-A030186832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9937" y="1056068"/>
                <a:ext cx="3742394" cy="5280338"/>
              </a:xfrm>
              <a:blipFill>
                <a:blip r:embed="rId3"/>
                <a:stretch>
                  <a:fillRect l="-1140" t="-577" r="-13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1A3A8B72-38D2-1F16-B427-7C8D7CC1C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8" y="1535893"/>
            <a:ext cx="5179319" cy="39812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380630-CF83-76F2-CCD1-769DEF004DDA}"/>
              </a:ext>
            </a:extLst>
          </p:cNvPr>
          <p:cNvSpPr txBox="1"/>
          <p:nvPr/>
        </p:nvSpPr>
        <p:spPr>
          <a:xfrm>
            <a:off x="1615388" y="5665200"/>
            <a:ext cx="2026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100</a:t>
            </a:r>
            <a:r>
              <a:rPr lang="ko-KR" altLang="en-US" dirty="0"/>
              <a:t>회 반복의 평균</a:t>
            </a:r>
          </a:p>
        </p:txBody>
      </p:sp>
    </p:spTree>
    <p:extLst>
      <p:ext uri="{BB962C8B-B14F-4D97-AF65-F5344CB8AC3E}">
        <p14:creationId xmlns:p14="http://schemas.microsoft.com/office/powerpoint/2010/main" val="628235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16132</TotalTime>
  <Words>706</Words>
  <Application>Microsoft Office PowerPoint</Application>
  <PresentationFormat>화면 슬라이드 쇼(4:3)</PresentationFormat>
  <Paragraphs>111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맑은 고딕</vt:lpstr>
      <vt:lpstr>Arial</vt:lpstr>
      <vt:lpstr>Calibri</vt:lpstr>
      <vt:lpstr>Calibri Light</vt:lpstr>
      <vt:lpstr>Cambria Math</vt:lpstr>
      <vt:lpstr>Office 테마</vt:lpstr>
      <vt:lpstr>벤디트 문제 (Bandit Problem)</vt:lpstr>
      <vt:lpstr>강화학습</vt:lpstr>
      <vt:lpstr>강화학습의 예</vt:lpstr>
      <vt:lpstr>밴디트 문제(bandit problem)</vt:lpstr>
      <vt:lpstr>좋은 슬롯머신이란?</vt:lpstr>
      <vt:lpstr>수식으로 표현하기</vt:lpstr>
      <vt:lpstr>밴디트 알고리즘</vt:lpstr>
      <vt:lpstr>밴디트 알고리즘 – 가치추정</vt:lpstr>
      <vt:lpstr>평균을 구하는 코드</vt:lpstr>
      <vt:lpstr>평균을 구하는 코드를 개선</vt:lpstr>
      <vt:lpstr>증분 구현(incremental implementation)</vt:lpstr>
      <vt:lpstr>플레이이가 어떤 전략을 취해야 하는가?</vt:lpstr>
      <vt:lpstr>슬롯머신 클래스</vt:lpstr>
      <vt:lpstr>각 슬롯머신의 가치 추정치를 구함</vt:lpstr>
      <vt:lpstr>에이전트 구현</vt:lpstr>
      <vt:lpstr>행동 실행</vt:lpstr>
      <vt:lpstr>실험할 때마다 결과가 다름</vt:lpstr>
      <vt:lpstr>ε 값에 대한 실험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Optimization Techniques for 2-hop Labeling of Dynamic Directed Acyclic Graphs</dc:title>
  <dc:creator>Windows 사용자</dc:creator>
  <cp:lastModifiedBy>안진현</cp:lastModifiedBy>
  <cp:revision>481</cp:revision>
  <cp:lastPrinted>2016-10-13T23:42:19Z</cp:lastPrinted>
  <dcterms:created xsi:type="dcterms:W3CDTF">2016-09-30T16:23:03Z</dcterms:created>
  <dcterms:modified xsi:type="dcterms:W3CDTF">2026-07-02T07:32:55Z</dcterms:modified>
</cp:coreProperties>
</file>