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sldIdLst>
    <p:sldId id="256" r:id="rId2"/>
    <p:sldId id="277" r:id="rId3"/>
    <p:sldId id="279" r:id="rId4"/>
    <p:sldId id="280" r:id="rId5"/>
    <p:sldId id="281" r:id="rId6"/>
    <p:sldId id="282" r:id="rId7"/>
    <p:sldId id="283" r:id="rId8"/>
    <p:sldId id="284" r:id="rId9"/>
    <p:sldId id="287" r:id="rId10"/>
    <p:sldId id="288" r:id="rId11"/>
    <p:sldId id="290" r:id="rId12"/>
    <p:sldId id="289" r:id="rId13"/>
    <p:sldId id="291" r:id="rId14"/>
    <p:sldId id="292" r:id="rId15"/>
    <p:sldId id="295" r:id="rId16"/>
    <p:sldId id="293" r:id="rId17"/>
    <p:sldId id="294" r:id="rId18"/>
    <p:sldId id="296" r:id="rId19"/>
    <p:sldId id="297" r:id="rId20"/>
    <p:sldId id="298" r:id="rId21"/>
    <p:sldId id="299" r:id="rId22"/>
    <p:sldId id="300" r:id="rId23"/>
    <p:sldId id="301" r:id="rId24"/>
    <p:sldId id="302" r:id="rId25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205" autoAdjust="0"/>
    <p:restoredTop sz="90406" autoAdjust="0"/>
  </p:normalViewPr>
  <p:slideViewPr>
    <p:cSldViewPr snapToGrid="0">
      <p:cViewPr varScale="1">
        <p:scale>
          <a:sx n="145" d="100"/>
          <a:sy n="145" d="100"/>
        </p:scale>
        <p:origin x="2156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8" d="100"/>
          <a:sy n="68" d="100"/>
        </p:scale>
        <p:origin x="2900" y="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504E4A-07F7-4F02-B3E2-C3B5C1401BF2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1241425"/>
            <a:ext cx="44672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BA09A4-BA45-48FF-8C1A-293E531665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26852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4173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BA09A4-BA45-48FF-8C1A-293E531665F8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8094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C52B8-7F35-474C-84E9-53F8FF3197BA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46015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2130" y="107548"/>
            <a:ext cx="8850201" cy="858367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129" y="1056068"/>
            <a:ext cx="8850201" cy="5280338"/>
          </a:xfr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446504"/>
            <a:ext cx="2057400" cy="365125"/>
          </a:xfrm>
        </p:spPr>
        <p:txBody>
          <a:bodyPr/>
          <a:lstStyle/>
          <a:p>
            <a:fld id="{1A785F0D-20DD-4273-B9CA-041260E6C442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446504"/>
            <a:ext cx="3086100" cy="365125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E96739-B45B-5233-56A7-143CB0102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44930" y="6446503"/>
            <a:ext cx="2057400" cy="365125"/>
          </a:xfrm>
        </p:spPr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2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2B87E-A7EF-4ACA-9BDB-5D9094BF3EFF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05502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0A5EAE-8CF8-47D1-8180-E1B5000A314B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81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F8A37-152F-4C96-9DE6-4708DE41A156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86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941E15-0549-493B-9DD1-CC25D7B85CDA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3277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61D7B3-1556-4E73-A55D-61EE568CD906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4593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A10A5E-E5EA-48C2-B8E9-7C3EB5E6F552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0305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2F73C-E35C-485D-8DBB-9E618EDD052C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7813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CD45D1-34F0-40BF-8F53-7948A1A188B7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29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2575-9C60-45F5-B34E-AC321E4EFEC1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13718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x">
  <p:cSld name="Title,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F814AE1-3117-4EE0-A069-AF58D79E97B0}" type="datetime1">
              <a:rPr lang="ko-KR" altLang="en-US" smtClean="0"/>
              <a:t>2026-10-12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29522C62-A2CC-4D4B-B236-5A4E2840B6DE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89551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41A3A7-1844-4861-8A25-948A63554618}" type="datetime1">
              <a:rPr lang="ko-KR" altLang="en-US" smtClean="0"/>
              <a:t>2026-10-12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005F6450-F049-4D29-A92C-0D9D1E715E0A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509316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600200"/>
            <a:ext cx="3810000" cy="464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4495800" y="1600200"/>
            <a:ext cx="3810000" cy="4648200"/>
          </a:xfrm>
        </p:spPr>
        <p:txBody>
          <a:bodyPr/>
          <a:lstStyle/>
          <a:p>
            <a:pPr lvl="0"/>
            <a:endParaRPr lang="en-US" noProof="0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F7E93FD-76F7-4014-9EF6-7780B36380F8}" type="datetime1">
              <a:rPr lang="ko-KR" altLang="en-US" smtClean="0"/>
              <a:t>2026-10-12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DBF13599-2EB2-4F77-8517-1EB74F3E4DBB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6543602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16002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0" y="4000500"/>
            <a:ext cx="7772400" cy="2247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363D1D4-B057-4AAA-9672-CCE53A692238}" type="datetime1">
              <a:rPr lang="ko-KR" altLang="en-US" smtClean="0"/>
              <a:t>2026-10-12</a:t>
            </a:fld>
            <a:endParaRPr lang="en-US" altLang="ko-KR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ko-KR"/>
              <a:t>2-</a:t>
            </a:r>
            <a:fld id="{41178C87-A3B4-4516-BF8E-6B60B5256552}" type="slidenum">
              <a:rPr lang="en-US" altLang="ko-KR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60730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3065C-782C-4112-9CED-1FE7AAC3A4D5}" type="datetime1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44BEB-34CB-469D-8313-83BA6B52212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93385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4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26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0835" y="1122363"/>
            <a:ext cx="8800935" cy="2387600"/>
          </a:xfrm>
        </p:spPr>
        <p:txBody>
          <a:bodyPr anchor="ctr">
            <a:normAutofit/>
          </a:bodyPr>
          <a:lstStyle/>
          <a:p>
            <a:r>
              <a:rPr lang="ko-KR" altLang="en-US" sz="5400" dirty="0" err="1"/>
              <a:t>벨만</a:t>
            </a:r>
            <a:r>
              <a:rPr lang="ko-KR" altLang="en-US" sz="5400" dirty="0"/>
              <a:t> 방정식</a:t>
            </a:r>
            <a:endParaRPr lang="en-US" altLang="ko-KR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altLang="ko-KR" sz="2800" dirty="0" err="1"/>
              <a:t>Jinhyun</a:t>
            </a:r>
            <a:r>
              <a:rPr lang="en-US" altLang="ko-KR" sz="2800" dirty="0"/>
              <a:t> </a:t>
            </a:r>
            <a:r>
              <a:rPr lang="en-US" altLang="ko-KR" sz="2800" dirty="0" err="1"/>
              <a:t>Ahn</a:t>
            </a:r>
            <a:endParaRPr lang="ko-KR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3732521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44463-5ECA-BD40-8F83-8C743BD6F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결정적 </a:t>
            </a:r>
            <a:r>
              <a:rPr lang="en-US" altLang="ko-KR" dirty="0"/>
              <a:t>vs </a:t>
            </a:r>
            <a:r>
              <a:rPr lang="ko-KR" altLang="en-US" dirty="0"/>
              <a:t>확률적 행동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B0C50A1F-04AC-0D4F-6188-50325B4F15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4428" y="1341775"/>
            <a:ext cx="5397777" cy="3429176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50899-8D7D-B7E4-AB4A-6B217521C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A278E3-92E2-D714-DA40-99AA85A54AC6}"/>
                  </a:ext>
                </a:extLst>
              </p:cNvPr>
              <p:cNvSpPr txBox="1"/>
              <p:nvPr/>
            </p:nvSpPr>
            <p:spPr>
              <a:xfrm>
                <a:off x="598252" y="4828076"/>
                <a:ext cx="3665427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2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8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ko-KR" altLang="en-US" sz="28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800" i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2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28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4A278E3-92E2-D714-DA40-99AA85A54A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252" y="4828076"/>
                <a:ext cx="3665427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13913A-ACBD-884C-3738-1A5678678F6F}"/>
                  </a:ext>
                </a:extLst>
              </p:cNvPr>
              <p:cNvSpPr txBox="1"/>
              <p:nvPr/>
            </p:nvSpPr>
            <p:spPr>
              <a:xfrm>
                <a:off x="310375" y="5408421"/>
                <a:ext cx="480040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/>
                <a:r>
                  <a:rPr lang="ko-KR" altLang="en-US" dirty="0"/>
                  <a:t>현재 상태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dirty="0" err="1"/>
                  <a:t>에서</a:t>
                </a:r>
                <a:r>
                  <a:rPr lang="ko-KR" altLang="en-US" dirty="0"/>
                  <a:t> 시작하여 정책 </a:t>
                </a:r>
                <a14:m>
                  <m:oMath xmlns:m="http://schemas.openxmlformats.org/officeDocument/2006/math">
                    <m:r>
                      <a:rPr lang="ko-KR" altLang="en-US" i="1" dirty="0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ko-KR" altLang="en-US" dirty="0" err="1"/>
                  <a:t>를</a:t>
                </a:r>
                <a:r>
                  <a:rPr lang="ko-KR" altLang="en-US" dirty="0"/>
                  <a:t> 따라 계속 행동했을 때, 앞으로 얻게 될 누적 보상(리턴)의 </a:t>
                </a:r>
                <a:r>
                  <a:rPr lang="ko-KR" altLang="en-US" dirty="0" err="1"/>
                  <a:t>기댓값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713913A-ACBD-884C-3738-1A5678678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375" y="5408421"/>
                <a:ext cx="4800406" cy="923330"/>
              </a:xfrm>
              <a:prstGeom prst="rect">
                <a:avLst/>
              </a:prstGeom>
              <a:blipFill>
                <a:blip r:embed="rId4"/>
                <a:stretch>
                  <a:fillRect l="-1144" t="-4605" r="-1017" b="-78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72795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8485F5-1699-8F6E-8994-82523F249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벨만</a:t>
            </a:r>
            <a:r>
              <a:rPr lang="ko-KR" altLang="en-US" dirty="0"/>
              <a:t> 방정식 도출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1CF2D9-0C0D-9616-FC5C-5DF9001189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sz="2000" dirty="0"/>
                  <a:t>수익</a:t>
                </a:r>
                <a:r>
                  <a:rPr lang="en-US" altLang="ko-KR" sz="2000" dirty="0"/>
                  <a:t>: </a:t>
                </a:r>
                <a:r>
                  <a:rPr lang="ko-KR" altLang="en-US" sz="2000" dirty="0"/>
                  <a:t>시간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altLang="ko-KR" sz="2000" dirty="0"/>
                  <a:t> </a:t>
                </a:r>
                <a:r>
                  <a:rPr lang="ko-KR" altLang="en-US" sz="2000" dirty="0"/>
                  <a:t>이후로 얻을 수 있는 보상의 총합</a:t>
                </a:r>
                <a:endParaRPr lang="en-US" altLang="ko-KR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ko-KR" sz="20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𝛾</m:t>
                      </m:r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00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</m:sub>
                      </m:sSub>
                      <m:r>
                        <a:rPr lang="en-US" altLang="ko-KR" sz="200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ko-KR" alt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ko-KR" altLang="en-US" sz="2000" i="1">
                              <a:latin typeface="Cambria Math" panose="02040503050406030204" pitchFamily="18" charset="0"/>
                            </a:rPr>
                            <m:t>𝛾</m:t>
                          </m:r>
                        </m:e>
                        <m:sup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00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sub>
                      </m:sSub>
                      <m:r>
                        <a:rPr lang="en-US" altLang="ko-KR" sz="2000">
                          <a:latin typeface="Cambria Math" panose="02040503050406030204" pitchFamily="18" charset="0"/>
                        </a:rPr>
                        <m:t>+⋯</m:t>
                      </m:r>
                    </m:oMath>
                  </m:oMathPara>
                </a14:m>
                <a:endParaRPr lang="en-US" altLang="ko-KR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000" dirty="0"/>
                  <a:t>에 </a:t>
                </a:r>
                <a14:m>
                  <m:oMath xmlns:m="http://schemas.openxmlformats.org/officeDocument/2006/math">
                    <m:r>
                      <a:rPr lang="en-US" altLang="ko-KR" sz="20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2000" i="0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sz="2000" dirty="0"/>
                  <a:t>을 대입</a:t>
                </a:r>
                <a:endParaRPr lang="en-US" altLang="ko-KR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sz="20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sz="2000" dirty="0"/>
                  <a:t>를 상태가치함수의 수식에 대입</a:t>
                </a:r>
                <a:endParaRPr lang="en-US" altLang="ko-KR" sz="2000" dirty="0"/>
              </a:p>
              <a:p>
                <a:pPr>
                  <a:lnSpc>
                    <a:spcPct val="100000"/>
                  </a:lnSpc>
                </a:pPr>
                <a:endParaRPr lang="ko-KR" altLang="en-US" sz="20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1CF2D9-0C0D-9616-FC5C-5DF9001189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58" t="-5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1E052F-EC82-8443-32FD-5471033B1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C544595-65B9-A8B8-28AB-2A0945F4E3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47" r="27687"/>
          <a:stretch>
            <a:fillRect/>
          </a:stretch>
        </p:blipFill>
        <p:spPr>
          <a:xfrm>
            <a:off x="1983297" y="2379990"/>
            <a:ext cx="3658734" cy="14140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58D441E-BC67-307C-2C2A-6EC71909E0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71" t="11539" r="28984" b="-4385"/>
          <a:stretch>
            <a:fillRect/>
          </a:stretch>
        </p:blipFill>
        <p:spPr>
          <a:xfrm>
            <a:off x="2051254" y="1866562"/>
            <a:ext cx="3522819" cy="46835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0DF3409-2522-302D-311A-168D9D1349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69" r="24368"/>
          <a:stretch>
            <a:fillRect/>
          </a:stretch>
        </p:blipFill>
        <p:spPr>
          <a:xfrm>
            <a:off x="787449" y="4429147"/>
            <a:ext cx="4662344" cy="145505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E49022A-42BE-3F92-633D-35A315507F47}"/>
              </a:ext>
            </a:extLst>
          </p:cNvPr>
          <p:cNvSpPr txBox="1"/>
          <p:nvPr/>
        </p:nvSpPr>
        <p:spPr>
          <a:xfrm>
            <a:off x="4357748" y="5270585"/>
            <a:ext cx="12163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ko-KR" altLang="en-US" sz="1100" dirty="0" err="1"/>
              <a:t>기댓값의</a:t>
            </a:r>
            <a:r>
              <a:rPr lang="ko-KR" altLang="en-US" sz="1100" dirty="0"/>
              <a:t> 선형성</a:t>
            </a:r>
            <a:endParaRPr lang="en-US" altLang="ko-KR" sz="1100" dirty="0"/>
          </a:p>
        </p:txBody>
      </p:sp>
    </p:spTree>
    <p:extLst>
      <p:ext uri="{BB962C8B-B14F-4D97-AF65-F5344CB8AC3E}">
        <p14:creationId xmlns:p14="http://schemas.microsoft.com/office/powerpoint/2010/main" val="3142179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456148-E6CF-D0AE-4531-16670E28F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벨만</a:t>
            </a:r>
            <a:r>
              <a:rPr lang="ko-KR" altLang="en-US" dirty="0"/>
              <a:t> 방정식 도출 </a:t>
            </a:r>
            <a:r>
              <a:rPr lang="en-US" altLang="ko-KR" dirty="0"/>
              <a:t>(</a:t>
            </a:r>
            <a:r>
              <a:rPr lang="ko-KR" altLang="en-US" dirty="0"/>
              <a:t>첫번째 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4D51AEB1-0E3F-CAAC-F0D3-A919751477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35"/>
          <a:stretch>
            <a:fillRect/>
          </a:stretch>
        </p:blipFill>
        <p:spPr>
          <a:xfrm>
            <a:off x="256209" y="1530186"/>
            <a:ext cx="4419870" cy="222296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5AECEE-993E-62C9-5C5A-6D25B9CD7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4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FA337011-0CAA-A444-E4CC-839B4BFCFBC2}"/>
              </a:ext>
            </a:extLst>
          </p:cNvPr>
          <p:cNvGrpSpPr/>
          <p:nvPr/>
        </p:nvGrpSpPr>
        <p:grpSpPr>
          <a:xfrm>
            <a:off x="549600" y="866253"/>
            <a:ext cx="4658069" cy="451790"/>
            <a:chOff x="274493" y="965915"/>
            <a:chExt cx="4658069" cy="45179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6F35361C-D9AE-61D9-1A19-2F6121AA9D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69" r="68677" b="69500"/>
            <a:stretch>
              <a:fillRect/>
            </a:stretch>
          </p:blipFill>
          <p:spPr>
            <a:xfrm>
              <a:off x="274493" y="965915"/>
              <a:ext cx="761827" cy="44378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A6899318-EE0E-5B2A-D407-F1D6B7EE2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372" t="69761" r="24368"/>
            <a:stretch>
              <a:fillRect/>
            </a:stretch>
          </p:blipFill>
          <p:spPr>
            <a:xfrm>
              <a:off x="1036320" y="977711"/>
              <a:ext cx="3896242" cy="43999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내용 개체 틀 2">
                <a:extLst>
                  <a:ext uri="{FF2B5EF4-FFF2-40B4-BE49-F238E27FC236}">
                    <a16:creationId xmlns:a16="http://schemas.microsoft.com/office/drawing/2014/main" id="{F610ABD9-8C41-F004-5BB6-54B7FBE1842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11923" y="1552449"/>
                <a:ext cx="4011279" cy="16900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ko-KR" altLang="en-US" sz="1600" dirty="0"/>
                  <a:t>현재 상태가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1600" dirty="0"/>
                  <a:t>이고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에이전트는 정책 </a:t>
                </a:r>
                <a14:m>
                  <m:oMath xmlns:m="http://schemas.openxmlformats.org/officeDocument/2006/math">
                    <m:r>
                      <a:rPr lang="ko-KR" altLang="en-US" sz="16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ko-KR" altLang="en-US" sz="1600" dirty="0"/>
                  <a:t>에 따라 행동</a:t>
                </a:r>
                <a:r>
                  <a:rPr lang="en-US" altLang="ko-KR" sz="1600" dirty="0"/>
                  <a:t>. 3</a:t>
                </a:r>
                <a:r>
                  <a:rPr lang="ko-KR" altLang="en-US" sz="1600" dirty="0"/>
                  <a:t>가지 행동 가능</a:t>
                </a:r>
                <a:endParaRPr lang="en-US" altLang="ko-KR" sz="16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6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=0.2</m:t>
                      </m:r>
                    </m:oMath>
                  </m:oMathPara>
                </a14:m>
                <a:endParaRPr lang="en-US" altLang="ko-KR" sz="16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3</m:t>
                      </m:r>
                    </m:oMath>
                  </m:oMathPara>
                </a14:m>
                <a:endParaRPr lang="ko-KR" altLang="en-US" sz="16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ko-KR" altLang="en-US" sz="1600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altLang="ko-KR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6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r>
                            <a:rPr lang="en-US" altLang="ko-KR" sz="16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600" i="1">
                          <a:latin typeface="Cambria Math" panose="02040503050406030204" pitchFamily="18" charset="0"/>
                        </a:rPr>
                        <m:t>=0.</m:t>
                      </m:r>
                      <m:r>
                        <a:rPr lang="en-US" altLang="ko-KR" sz="1600" b="0" i="1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ko-KR" altLang="en-US" sz="1600" dirty="0"/>
              </a:p>
              <a:p>
                <a:pPr algn="just">
                  <a:lnSpc>
                    <a:spcPct val="100000"/>
                  </a:lnSpc>
                </a:pPr>
                <a:endParaRPr lang="ko-KR" altLang="en-US" sz="1600" dirty="0"/>
              </a:p>
            </p:txBody>
          </p:sp>
        </mc:Choice>
        <mc:Fallback xmlns="">
          <p:sp>
            <p:nvSpPr>
              <p:cNvPr id="11" name="내용 개체 틀 2">
                <a:extLst>
                  <a:ext uri="{FF2B5EF4-FFF2-40B4-BE49-F238E27FC236}">
                    <a16:creationId xmlns:a16="http://schemas.microsoft.com/office/drawing/2014/main" id="{F610ABD9-8C41-F004-5BB6-54B7FBE184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923" y="1552449"/>
                <a:ext cx="4011279" cy="1690065"/>
              </a:xfrm>
              <a:prstGeom prst="rect">
                <a:avLst/>
              </a:prstGeom>
              <a:blipFill>
                <a:blip r:embed="rId4"/>
                <a:stretch>
                  <a:fillRect l="-608" t="-1444" r="-9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내용 개체 틀 2">
                <a:extLst>
                  <a:ext uri="{FF2B5EF4-FFF2-40B4-BE49-F238E27FC236}">
                    <a16:creationId xmlns:a16="http://schemas.microsoft.com/office/drawing/2014/main" id="{AE83E824-A580-CEED-0797-6D0291E8742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811923" y="3055380"/>
                <a:ext cx="4011279" cy="1690065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>
                  <a:lnSpc>
                    <a:spcPct val="100000"/>
                  </a:lnSpc>
                </a:pPr>
                <a:r>
                  <a:rPr lang="ko-KR" altLang="en-US" sz="1600" dirty="0"/>
                  <a:t>행</a:t>
                </a: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동</m:t>
                    </m:r>
                    <m:r>
                      <a:rPr lang="en-US" altLang="ko-KR" sz="16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/>
                  <a:t>을 수행했을 때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상태전이확률 </a:t>
                </a:r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’|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600" dirty="0"/>
                  <a:t>에 따라 새로운 상태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600" dirty="0"/>
                  <a:t>로 이동</a:t>
                </a:r>
                <a:endParaRPr lang="en-US" altLang="ko-KR" sz="16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’=</m:t>
                      </m:r>
                      <m:sSub>
                        <m:sSub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sz="1600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6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6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</a:rPr>
                        <m:t>=0.6</m:t>
                      </m:r>
                    </m:oMath>
                  </m:oMathPara>
                </a14:m>
                <a:endParaRPr lang="en-US" altLang="ko-KR" sz="160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’=</m:t>
                      </m:r>
                      <m:sSub>
                        <m:sSub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altLang="ko-KR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sz="1600" i="1" dirty="0" err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ko-KR" sz="1600" i="1" dirty="0" err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1600" i="1" dirty="0" err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ko-KR" sz="16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ko-KR" sz="16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ko-KR" sz="1600" i="1" dirty="0">
                          <a:latin typeface="Cambria Math" panose="02040503050406030204" pitchFamily="18" charset="0"/>
                        </a:rPr>
                        <m:t>)=0.</m:t>
                      </m:r>
                      <m:r>
                        <a:rPr lang="en-US" altLang="ko-KR" sz="1600" b="0" i="1" dirty="0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ko-KR" altLang="en-US" sz="1600" dirty="0"/>
              </a:p>
            </p:txBody>
          </p:sp>
        </mc:Choice>
        <mc:Fallback xmlns="">
          <p:sp>
            <p:nvSpPr>
              <p:cNvPr id="12" name="내용 개체 틀 2">
                <a:extLst>
                  <a:ext uri="{FF2B5EF4-FFF2-40B4-BE49-F238E27FC236}">
                    <a16:creationId xmlns:a16="http://schemas.microsoft.com/office/drawing/2014/main" id="{AE83E824-A580-CEED-0797-6D0291E87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923" y="3055380"/>
                <a:ext cx="4011279" cy="1690065"/>
              </a:xfrm>
              <a:prstGeom prst="rect">
                <a:avLst/>
              </a:prstGeom>
              <a:blipFill>
                <a:blip r:embed="rId5"/>
                <a:stretch>
                  <a:fillRect l="-608" t="-1083" r="-9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내용 개체 틀 2">
                <a:extLst>
                  <a:ext uri="{FF2B5EF4-FFF2-40B4-BE49-F238E27FC236}">
                    <a16:creationId xmlns:a16="http://schemas.microsoft.com/office/drawing/2014/main" id="{37FCCB64-9342-F052-A459-7B23B423000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56209" y="3833528"/>
                <a:ext cx="4419870" cy="6555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just"/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en-US" altLang="ko-KR" sz="1600" dirty="0"/>
                  <a:t>: </a:t>
                </a:r>
                <a:r>
                  <a:rPr lang="ko-KR" altLang="en-US" sz="1600" dirty="0"/>
                  <a:t>에이전트가 상태 </a:t>
                </a:r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1600" dirty="0"/>
                  <a:t>에서 행동 </a:t>
                </a:r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1600" dirty="0"/>
                  <a:t>를 수행하여 다음 상태 </a:t>
                </a:r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‘</m:t>
                    </m:r>
                  </m:oMath>
                </a14:m>
                <a:r>
                  <a:rPr lang="ko-KR" altLang="en-US" sz="1600" dirty="0"/>
                  <a:t>가 되었을 때 얻는 보상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13" name="내용 개체 틀 2">
                <a:extLst>
                  <a:ext uri="{FF2B5EF4-FFF2-40B4-BE49-F238E27FC236}">
                    <a16:creationId xmlns:a16="http://schemas.microsoft.com/office/drawing/2014/main" id="{37FCCB64-9342-F052-A459-7B23B4230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209" y="3833528"/>
                <a:ext cx="4419870" cy="655539"/>
              </a:xfrm>
              <a:prstGeom prst="rect">
                <a:avLst/>
              </a:prstGeom>
              <a:blipFill>
                <a:blip r:embed="rId6"/>
                <a:stretch>
                  <a:fillRect l="-552" t="-7477" r="-8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F497DA84-999D-F4C2-90BE-D85EDC57B2B9}"/>
              </a:ext>
            </a:extLst>
          </p:cNvPr>
          <p:cNvCxnSpPr/>
          <p:nvPr/>
        </p:nvCxnSpPr>
        <p:spPr>
          <a:xfrm>
            <a:off x="1636244" y="1310038"/>
            <a:ext cx="141248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내용 개체 틀 2">
                <a:extLst>
                  <a:ext uri="{FF2B5EF4-FFF2-40B4-BE49-F238E27FC236}">
                    <a16:creationId xmlns:a16="http://schemas.microsoft.com/office/drawing/2014/main" id="{31BA5139-8497-7497-9AD1-8C97E6D220F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13358" y="4992592"/>
                <a:ext cx="8631702" cy="92291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228600" indent="-22860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ko-KR" altLang="en-US" sz="1600" dirty="0">
                    <a:latin typeface="+mn-ea"/>
                  </a:rPr>
                  <a:t>현재상태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에서 에이전트가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의 확률로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+mn-ea"/>
                  </a:rPr>
                  <a:t>을 선택하고 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lang="ko-KR" altLang="en-US" sz="1600" dirty="0">
                    <a:latin typeface="+mn-ea"/>
                  </a:rPr>
                  <a:t>의 확률로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600" dirty="0">
                    <a:latin typeface="+mn-ea"/>
                  </a:rPr>
                  <a:t>로 전이 함</a:t>
                </a:r>
                <a:endParaRPr lang="en-US" altLang="ko-KR" sz="1600" dirty="0">
                  <a:latin typeface="+mn-ea"/>
                </a:endParaRP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ko-KR" altLang="en-US" sz="160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altLang="ko-KR" sz="16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’=</m:t>
                    </m:r>
                    <m:sSub>
                      <m:sSub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6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</a:rPr>
                      <m:t>0.2</m:t>
                    </m:r>
                    <m:r>
                      <a:rPr lang="en-US" altLang="ko-KR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∙0.6=0.12</m:t>
                    </m:r>
                  </m:oMath>
                </a14:m>
                <a:r>
                  <a:rPr lang="en-US" altLang="ko-KR" sz="1600" dirty="0"/>
                  <a:t> </a:t>
                </a:r>
                <a:r>
                  <a:rPr lang="ko-KR" altLang="en-US" sz="1600" dirty="0"/>
                  <a:t>의 확률로 </a:t>
                </a:r>
                <a14:m>
                  <m:oMath xmlns:m="http://schemas.openxmlformats.org/officeDocument/2006/math"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6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600" i="1" dirty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ko-KR" altLang="en-US" sz="1600" dirty="0"/>
                  <a:t>의 보상을 얻음</a:t>
                </a:r>
                <a:endParaRPr lang="en-US" altLang="ko-KR" sz="1600" dirty="0"/>
              </a:p>
            </p:txBody>
          </p:sp>
        </mc:Choice>
        <mc:Fallback xmlns="">
          <p:sp>
            <p:nvSpPr>
              <p:cNvPr id="16" name="내용 개체 틀 2">
                <a:extLst>
                  <a:ext uri="{FF2B5EF4-FFF2-40B4-BE49-F238E27FC236}">
                    <a16:creationId xmlns:a16="http://schemas.microsoft.com/office/drawing/2014/main" id="{31BA5139-8497-7497-9AD1-8C97E6D22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58" y="4992592"/>
                <a:ext cx="8631702" cy="922912"/>
              </a:xfrm>
              <a:prstGeom prst="rect">
                <a:avLst/>
              </a:prstGeom>
              <a:blipFill>
                <a:blip r:embed="rId7"/>
                <a:stretch>
                  <a:fillRect l="-353" t="-1987" r="-35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BA4E4FCE-048F-5515-EBA6-6AC84A628A9F}"/>
              </a:ext>
            </a:extLst>
          </p:cNvPr>
          <p:cNvCxnSpPr/>
          <p:nvPr/>
        </p:nvCxnSpPr>
        <p:spPr>
          <a:xfrm>
            <a:off x="256209" y="4651622"/>
            <a:ext cx="8746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8664BF49-A610-21DB-9759-DA10FEC22910}"/>
              </a:ext>
            </a:extLst>
          </p:cNvPr>
          <p:cNvCxnSpPr/>
          <p:nvPr/>
        </p:nvCxnSpPr>
        <p:spPr>
          <a:xfrm>
            <a:off x="198939" y="1403952"/>
            <a:ext cx="874612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1143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B86465-9B84-E575-C8FF-421DFEFDC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벨만</a:t>
            </a:r>
            <a:r>
              <a:rPr lang="ko-KR" altLang="en-US" dirty="0"/>
              <a:t> 방정식 도출 </a:t>
            </a:r>
            <a:r>
              <a:rPr lang="en-US" altLang="ko-KR" dirty="0"/>
              <a:t>(</a:t>
            </a:r>
            <a:r>
              <a:rPr lang="ko-KR" altLang="en-US" dirty="0"/>
              <a:t>첫번째 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59F2399-153A-D4C6-8E69-618DE61030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ko-KR" altLang="en-US" sz="1800" dirty="0">
                    <a:latin typeface="+mn-ea"/>
                  </a:rPr>
                  <a:t>현재상태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1800" dirty="0">
                    <a:latin typeface="+mn-ea"/>
                  </a:rPr>
                  <a:t>에서 에이전트가 </a:t>
                </a:r>
                <a14:m>
                  <m:oMath xmlns:m="http://schemas.openxmlformats.org/officeDocument/2006/math"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lang="ko-KR" altLang="en-US" sz="1800" dirty="0">
                    <a:latin typeface="+mn-ea"/>
                  </a:rPr>
                  <a:t>의 확률로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+mn-ea"/>
                  </a:rPr>
                  <a:t>을 선택하고 </a:t>
                </a:r>
                <a14:m>
                  <m:oMath xmlns:m="http://schemas.openxmlformats.org/officeDocument/2006/math"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lang="ko-KR" altLang="en-US" sz="1800" dirty="0">
                    <a:latin typeface="+mn-ea"/>
                  </a:rPr>
                  <a:t>의 확률로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dirty="0">
                    <a:latin typeface="+mn-ea"/>
                  </a:rPr>
                  <a:t>로 전이 함</a:t>
                </a:r>
                <a:endParaRPr lang="en-US" altLang="ko-KR" sz="1800" dirty="0">
                  <a:latin typeface="+mn-ea"/>
                </a:endParaRP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 xmlns:m="http://schemas.openxmlformats.org/officeDocument/2006/math">
                    <m:r>
                      <a:rPr lang="ko-KR" altLang="en-US" sz="18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’=</m:t>
                    </m:r>
                    <m:sSub>
                      <m:sSubPr>
                        <m:ctrlPr>
                          <a:rPr lang="en-US" altLang="ko-K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8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i="1" dirty="0" err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8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8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)=0.2</m:t>
                    </m:r>
                    <m:r>
                      <a:rPr lang="en-US" altLang="ko-KR" sz="18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∙0.6=0.12</m:t>
                    </m:r>
                  </m:oMath>
                </a14:m>
                <a:r>
                  <a:rPr lang="en-US" altLang="ko-KR" sz="1800" dirty="0"/>
                  <a:t> </a:t>
                </a:r>
                <a:r>
                  <a:rPr lang="ko-KR" altLang="en-US" sz="1800" dirty="0"/>
                  <a:t>의 확률로 </a:t>
                </a:r>
                <a14:m>
                  <m:oMath xmlns:m="http://schemas.openxmlformats.org/officeDocument/2006/math"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1800" i="1" dirty="0" err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i="1" dirty="0">
                        <a:latin typeface="Cambria Math" panose="02040503050406030204" pitchFamily="18" charset="0"/>
                      </a:rPr>
                      <m:t>’)</m:t>
                    </m:r>
                  </m:oMath>
                </a14:m>
                <a:r>
                  <a:rPr lang="ko-KR" altLang="en-US" sz="1800" dirty="0"/>
                  <a:t>의 보상을 얻음</a:t>
                </a:r>
                <a:endParaRPr lang="en-US" altLang="ko-KR" sz="1800" dirty="0"/>
              </a:p>
              <a:p>
                <a:pPr marL="0" indent="0" algn="just">
                  <a:lnSpc>
                    <a:spcPct val="110000"/>
                  </a:lnSpc>
                  <a:buNone/>
                </a:pPr>
                <a:endParaRPr lang="en-US" altLang="ko-KR" sz="1800" dirty="0"/>
              </a:p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ko-KR" altLang="en-US" sz="1800" dirty="0"/>
                  <a:t>모든 후보에 대해 같은 계산을 수행해서 더하여 </a:t>
                </a:r>
                <a:r>
                  <a:rPr lang="ko-KR" altLang="en-US" sz="1800" dirty="0" err="1"/>
                  <a:t>기댓값을</a:t>
                </a:r>
                <a:r>
                  <a:rPr lang="ko-KR" altLang="en-US" sz="1800" dirty="0"/>
                  <a:t> 구함</a:t>
                </a:r>
                <a:endParaRPr lang="en-US" altLang="ko-KR" sz="1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800" i="1" dirty="0" smtClean="0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en-US" altLang="ko-KR" sz="1800" i="1" dirty="0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ko-KR" sz="180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0" i="1" dirty="0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 dirty="0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800" i="1" dirty="0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ko-KR" altLang="en-US" sz="1800" b="0" i="1" dirty="0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b="0" i="1" dirty="0" smtClean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b="0" i="1" dirty="0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p>
                                <m:sSupPr>
                                  <m:ctrlP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1800" b="0" i="1" dirty="0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en-US" altLang="ko-KR" sz="18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ko-KR" sz="18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59F2399-153A-D4C6-8E69-618DE61030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0" t="-577" r="-5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B26A10-08B5-B861-BE4A-7BEE148A9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E81EBDF-6472-F8F2-96C4-EFD91092A47B}"/>
              </a:ext>
            </a:extLst>
          </p:cNvPr>
          <p:cNvSpPr txBox="1">
            <a:spLocks/>
          </p:cNvSpPr>
          <p:nvPr/>
        </p:nvSpPr>
        <p:spPr>
          <a:xfrm>
            <a:off x="447773" y="1136503"/>
            <a:ext cx="8248454" cy="922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10000"/>
              </a:lnSpc>
              <a:buNone/>
            </a:pPr>
            <a:endParaRPr lang="en-US" altLang="ko-KR" sz="2000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71B90BF9-7FCF-F928-0328-B3DF0676255A}"/>
              </a:ext>
            </a:extLst>
          </p:cNvPr>
          <p:cNvGrpSpPr/>
          <p:nvPr/>
        </p:nvGrpSpPr>
        <p:grpSpPr>
          <a:xfrm>
            <a:off x="2124307" y="4346796"/>
            <a:ext cx="4658069" cy="451790"/>
            <a:chOff x="274493" y="965915"/>
            <a:chExt cx="4658069" cy="451790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BCDAF352-6441-7630-BDC7-996E2528CB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69" r="68677" b="69500"/>
            <a:stretch>
              <a:fillRect/>
            </a:stretch>
          </p:blipFill>
          <p:spPr>
            <a:xfrm>
              <a:off x="274493" y="965915"/>
              <a:ext cx="761827" cy="443785"/>
            </a:xfrm>
            <a:prstGeom prst="rect">
              <a:avLst/>
            </a:prstGeom>
          </p:spPr>
        </p:pic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96D28C73-3A81-0BB1-1487-3210E254D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372" t="69761" r="24368"/>
            <a:stretch>
              <a:fillRect/>
            </a:stretch>
          </p:blipFill>
          <p:spPr>
            <a:xfrm>
              <a:off x="1036320" y="977711"/>
              <a:ext cx="3896242" cy="439994"/>
            </a:xfrm>
            <a:prstGeom prst="rect">
              <a:avLst/>
            </a:prstGeom>
          </p:spPr>
        </p:pic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3F1E2B09-8642-C176-8768-77019E9498A8}"/>
              </a:ext>
            </a:extLst>
          </p:cNvPr>
          <p:cNvCxnSpPr/>
          <p:nvPr/>
        </p:nvCxnSpPr>
        <p:spPr>
          <a:xfrm>
            <a:off x="3210951" y="4790581"/>
            <a:ext cx="1412488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704402B9-F008-6E6D-48DE-2591EE21664A}"/>
              </a:ext>
            </a:extLst>
          </p:cNvPr>
          <p:cNvCxnSpPr/>
          <p:nvPr/>
        </p:nvCxnSpPr>
        <p:spPr>
          <a:xfrm flipV="1">
            <a:off x="3694771" y="3776546"/>
            <a:ext cx="453483" cy="5820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220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0A0402-BB59-D6E8-4E4B-E4576AB27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벨만</a:t>
            </a:r>
            <a:r>
              <a:rPr lang="ko-KR" altLang="en-US" dirty="0"/>
              <a:t> 방정식 도출 </a:t>
            </a:r>
            <a:r>
              <a:rPr lang="en-US" altLang="ko-KR" dirty="0"/>
              <a:t>(</a:t>
            </a:r>
            <a:r>
              <a:rPr lang="ko-KR" altLang="en-US" dirty="0"/>
              <a:t>두번째 항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694197F-6E0F-4445-4DD2-C2283B9CD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6</a:t>
            </a:fld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B5783DEC-C1EC-0CF8-1A01-4991CC653AD6}"/>
              </a:ext>
            </a:extLst>
          </p:cNvPr>
          <p:cNvGrpSpPr/>
          <p:nvPr/>
        </p:nvGrpSpPr>
        <p:grpSpPr>
          <a:xfrm>
            <a:off x="1931020" y="1157548"/>
            <a:ext cx="4658069" cy="451790"/>
            <a:chOff x="274493" y="965915"/>
            <a:chExt cx="4658069" cy="45179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F16E961A-C1A2-D329-D307-7188437B1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669" r="68677" b="69500"/>
            <a:stretch>
              <a:fillRect/>
            </a:stretch>
          </p:blipFill>
          <p:spPr>
            <a:xfrm>
              <a:off x="274493" y="965915"/>
              <a:ext cx="761827" cy="443785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5DEA66CD-6B31-C295-41E7-304D11CC28C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1372" t="69761" r="24368"/>
            <a:stretch>
              <a:fillRect/>
            </a:stretch>
          </p:blipFill>
          <p:spPr>
            <a:xfrm>
              <a:off x="1036320" y="977711"/>
              <a:ext cx="3896242" cy="439994"/>
            </a:xfrm>
            <a:prstGeom prst="rect">
              <a:avLst/>
            </a:prstGeom>
          </p:spPr>
        </p:pic>
      </p:grp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BBF10A35-0478-875E-282D-5F537FAB7CBA}"/>
              </a:ext>
            </a:extLst>
          </p:cNvPr>
          <p:cNvCxnSpPr>
            <a:cxnSpLocks/>
          </p:cNvCxnSpPr>
          <p:nvPr/>
        </p:nvCxnSpPr>
        <p:spPr>
          <a:xfrm flipV="1">
            <a:off x="4876200" y="1601333"/>
            <a:ext cx="1712889" cy="800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6425DC26-9841-66A4-44FF-C98098EC2E2F}"/>
                  </a:ext>
                </a:extLst>
              </p:cNvPr>
              <p:cNvSpPr txBox="1">
                <a:spLocks noGrp="1"/>
              </p:cNvSpPr>
              <p:nvPr>
                <p:ph idx="1"/>
              </p:nvPr>
            </p:nvSpPr>
            <p:spPr>
              <a:xfrm>
                <a:off x="152399" y="1792288"/>
                <a:ext cx="8716537" cy="53639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sz="2400" dirty="0">
                    <a:latin typeface="Cambria Math" panose="02040503050406030204" pitchFamily="18" charset="0"/>
                  </a:rPr>
                  <a:t>상태가치함수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24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ko-KR" altLang="en-US" sz="2400" dirty="0"/>
                  <a:t>의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2400" dirty="0"/>
                  <a:t>에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sz="2400" dirty="0"/>
                  <a:t>을 대입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24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ko-KR" altLang="en-US" sz="240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2400" i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2400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2400" i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ko-KR" sz="2400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:r>
                  <a:rPr lang="ko-KR" altLang="en-US" sz="1800" dirty="0"/>
                  <a:t>현재시간이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ko-KR" altLang="en-US" sz="1800" dirty="0"/>
                  <a:t>일 때 한 단위 뒤 시간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ko-KR" altLang="en-US" sz="1800" dirty="0"/>
                  <a:t>의 기대 수익</a:t>
                </a:r>
                <a:endParaRPr lang="en-US" altLang="ko-KR" sz="18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ko-KR" altLang="en-US" sz="2400" dirty="0">
                    <a:latin typeface="+mn-ea"/>
                  </a:rPr>
                  <a:t>현재상태 </a:t>
                </a:r>
                <a14:m>
                  <m:oMath xmlns:m="http://schemas.openxmlformats.org/officeDocument/2006/math"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2400" dirty="0">
                    <a:latin typeface="+mn-ea"/>
                  </a:rPr>
                  <a:t>에서 에이전트가 </a:t>
                </a:r>
                <a14:m>
                  <m:oMath xmlns:m="http://schemas.openxmlformats.org/officeDocument/2006/math"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0.2</m:t>
                    </m:r>
                  </m:oMath>
                </a14:m>
                <a:r>
                  <a:rPr lang="ko-KR" altLang="en-US" sz="2400" dirty="0">
                    <a:latin typeface="+mn-ea"/>
                  </a:rPr>
                  <a:t>의 확률로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400" dirty="0">
                    <a:latin typeface="+mn-ea"/>
                  </a:rPr>
                  <a:t>을 선택하고 </a:t>
                </a:r>
                <a14:m>
                  <m:oMath xmlns:m="http://schemas.openxmlformats.org/officeDocument/2006/math"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lang="ko-KR" altLang="en-US" sz="2400" dirty="0">
                    <a:latin typeface="+mn-ea"/>
                  </a:rPr>
                  <a:t>의 확률로 상태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400" dirty="0">
                    <a:latin typeface="+mn-ea"/>
                  </a:rPr>
                  <a:t>로 전이 하는 확률은</a:t>
                </a:r>
                <a:endParaRPr lang="en-US" altLang="ko-KR" sz="2400" dirty="0">
                  <a:latin typeface="+mn-ea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ko-KR" altLang="en-US" sz="2400" i="1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’=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2400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2400" i="1" dirty="0" err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400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)=0.2</m:t>
                    </m:r>
                    <m:r>
                      <a:rPr lang="en-US" altLang="ko-K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∙0.6=0.1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ko-KR" altLang="en-US" sz="2400" dirty="0"/>
                  <a:t> </a:t>
                </a:r>
                <a:endParaRPr lang="en-US" altLang="ko-KR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ko-KR" altLang="en-US" sz="2400" dirty="0"/>
                  <a:t>이고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다음 시점의 가치는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ko-KR" sz="2400" i="1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altLang="ko-KR" sz="240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400" dirty="0"/>
                  <a:t>이 됨</a:t>
                </a:r>
                <a:endParaRPr lang="en-US" altLang="ko-KR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r>
                  <a:rPr lang="ko-KR" altLang="en-US" sz="2400" dirty="0"/>
                  <a:t>모든 행동과 상태에 대해</a:t>
                </a:r>
                <a:endParaRPr lang="en-US" altLang="ko-KR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ko-KR" alt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8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ko-KR" alt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180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 sz="180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ko-KR" altLang="en-US" sz="18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altLang="ko-KR" sz="18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i="1" dirty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sSub>
                        <m:sSubPr>
                          <m:ctrlPr>
                            <a:rPr lang="ko-KR" altLang="en-US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1800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ko-KR" altLang="en-US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180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ko-KR" sz="18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altLang="ko-KR" sz="180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ko-KR" sz="1800" i="1" dirty="0">
                  <a:latin typeface="Cambria Math" panose="02040503050406030204" pitchFamily="18" charset="0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18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ko-KR" sz="1800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sSup>
                                <m:sSupPr>
                                  <m:ctrlP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sub>
                            <m:sup/>
                            <m:e>
                              <m:r>
                                <a:rPr lang="ko-KR" altLang="en-US" sz="18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d>
                                <m:dPr>
                                  <m:ctrlP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e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</m:d>
                              <m:r>
                                <a:rPr lang="en-US" altLang="ko-KR" sz="180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d>
                                <m:dPr>
                                  <m:ctrlP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ko-KR" sz="18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ko-KR" sz="1800" i="1" dirty="0"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p>
                                      <m:r>
                                        <a:rPr lang="en-US" altLang="ko-KR" sz="1800" i="1" dirty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</m:e>
                                <m:e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altLang="ko-KR" sz="1800" i="1" dirty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d>
                            </m:e>
                          </m:nary>
                        </m:e>
                      </m:nary>
                      <m:sSub>
                        <m:sSubPr>
                          <m:ctrlPr>
                            <a:rPr lang="en-US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1800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altLang="ko-KR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altLang="ko-KR" sz="18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en-US" altLang="ko-KR" sz="1800" dirty="0"/>
              </a:p>
            </p:txBody>
          </p:sp>
        </mc:Choice>
        <mc:Fallback xmlns="">
          <p:sp>
            <p:nvSpPr>
              <p:cNvPr id="11" name="내용 개체 틀 10">
                <a:extLst>
                  <a:ext uri="{FF2B5EF4-FFF2-40B4-BE49-F238E27FC236}">
                    <a16:creationId xmlns:a16="http://schemas.microsoft.com/office/drawing/2014/main" id="{6425DC26-9841-66A4-44FF-C98098EC2E2F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399" y="1792288"/>
                <a:ext cx="8716537" cy="5363904"/>
              </a:xfrm>
              <a:prstGeom prst="rect">
                <a:avLst/>
              </a:prstGeom>
              <a:blipFill>
                <a:blip r:embed="rId3"/>
                <a:stretch>
                  <a:fillRect l="-1049" t="-909" r="-104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DDF78C1B-647E-2B43-580B-4BE13C7CD05B}"/>
              </a:ext>
            </a:extLst>
          </p:cNvPr>
          <p:cNvCxnSpPr>
            <a:cxnSpLocks/>
          </p:cNvCxnSpPr>
          <p:nvPr/>
        </p:nvCxnSpPr>
        <p:spPr>
          <a:xfrm flipV="1">
            <a:off x="1455488" y="5779323"/>
            <a:ext cx="1712889" cy="8005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017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F276CC-DA49-418D-3945-80BEB29C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벨만</a:t>
            </a:r>
            <a:r>
              <a:rPr lang="ko-KR" altLang="en-US" dirty="0"/>
              <a:t> 방정식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7AC9BE-3D30-130B-422F-CCCB6C91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AF851E9-1AD6-ACD6-50FE-3D6A382BF1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8667"/>
          <a:stretch>
            <a:fillRect/>
          </a:stretch>
        </p:blipFill>
        <p:spPr>
          <a:xfrm>
            <a:off x="242106" y="1267864"/>
            <a:ext cx="8659788" cy="23753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FE4E53D-CD5B-4984-D108-73D39A3129C2}"/>
              </a:ext>
            </a:extLst>
          </p:cNvPr>
          <p:cNvSpPr txBox="1"/>
          <p:nvPr/>
        </p:nvSpPr>
        <p:spPr>
          <a:xfrm>
            <a:off x="1464526" y="1114596"/>
            <a:ext cx="164019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rgbClr val="FF0000"/>
                </a:solidFill>
              </a:rPr>
              <a:t>즉각적으로 받을 보상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528187-BA4E-5310-38C8-026DFBBE4E9D}"/>
              </a:ext>
            </a:extLst>
          </p:cNvPr>
          <p:cNvSpPr txBox="1"/>
          <p:nvPr/>
        </p:nvSpPr>
        <p:spPr>
          <a:xfrm>
            <a:off x="4089247" y="1114596"/>
            <a:ext cx="13324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</a:rPr>
              <a:t>다음 상태의 가치</a:t>
            </a:r>
            <a:endParaRPr lang="ko-KR" altLang="en-US" sz="12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511E82-E114-D86F-5DC7-6D457186E318}"/>
                  </a:ext>
                </a:extLst>
              </p:cNvPr>
              <p:cNvSpPr txBox="1"/>
              <p:nvPr/>
            </p:nvSpPr>
            <p:spPr>
              <a:xfrm>
                <a:off x="4089247" y="3427111"/>
                <a:ext cx="223168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ko-KR" altLang="en-US" sz="1400" dirty="0">
                    <a:solidFill>
                      <a:srgbClr val="FF0000"/>
                    </a:solidFill>
                  </a:rPr>
                  <a:t>다음 상태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US" altLang="ko-KR" sz="1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ko-KR" sz="1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sz="1400" dirty="0">
                    <a:solidFill>
                      <a:srgbClr val="FF0000"/>
                    </a:solidFill>
                  </a:rPr>
                  <a:t>로 갔을 때 얻는 즉각 보상과 할인율이 적용된 다음 상태의 가치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3511E82-E114-D86F-5DC7-6D457186E3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247" y="3427111"/>
                <a:ext cx="2231681" cy="738664"/>
              </a:xfrm>
              <a:prstGeom prst="rect">
                <a:avLst/>
              </a:prstGeom>
              <a:blipFill>
                <a:blip r:embed="rId4"/>
                <a:stretch>
                  <a:fillRect l="-820" t="-2479" r="-820" b="-74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EB0318-961B-DA83-DEB0-25952C2CE5AE}"/>
                  </a:ext>
                </a:extLst>
              </p:cNvPr>
              <p:cNvSpPr txBox="1"/>
              <p:nvPr/>
            </p:nvSpPr>
            <p:spPr>
              <a:xfrm>
                <a:off x="525155" y="4597455"/>
                <a:ext cx="755779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ko-KR" altLang="en-US" sz="1600" dirty="0">
                    <a:solidFill>
                      <a:srgbClr val="FF0000"/>
                    </a:solidFill>
                  </a:rPr>
                  <a:t>에이전트의 정책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sz="16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)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과 상태 전이 확률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altLang="ko-KR" sz="1600" dirty="0">
                    <a:solidFill>
                      <a:srgbClr val="FF0000"/>
                    </a:solidFill>
                  </a:rPr>
                  <a:t>)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을 모두 고려하여 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(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보상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+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다음 상태 가치</a:t>
                </a:r>
                <a:r>
                  <a:rPr lang="en-US" altLang="ko-KR" sz="1600" dirty="0">
                    <a:solidFill>
                      <a:srgbClr val="FF0000"/>
                    </a:solidFill>
                  </a:rPr>
                  <a:t>)</a:t>
                </a:r>
                <a:r>
                  <a:rPr lang="ko-KR" altLang="en-US" sz="1600" dirty="0">
                    <a:solidFill>
                      <a:srgbClr val="FF0000"/>
                    </a:solidFill>
                  </a:rPr>
                  <a:t>의 확률적 가중 평균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9EB0318-961B-DA83-DEB0-25952C2CE5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155" y="4597455"/>
                <a:ext cx="7557796" cy="584775"/>
              </a:xfrm>
              <a:prstGeom prst="rect">
                <a:avLst/>
              </a:prstGeom>
              <a:blipFill>
                <a:blip r:embed="rId5"/>
                <a:stretch>
                  <a:fillRect l="-403" t="-4167" r="-484" b="-114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8795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4E0E0-6441-DF86-4402-B417B2611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벨만</a:t>
            </a:r>
            <a:r>
              <a:rPr lang="ko-KR" altLang="en-US" dirty="0"/>
              <a:t> 방정식의 예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854F155A-AB6D-33B1-DC75-77621FE99B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10" y="1713665"/>
            <a:ext cx="4610337" cy="237502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D35F12-8AF1-847C-5A18-0449A5A93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65F6308-ECFF-595A-188D-82210E7E8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3604" y="2439329"/>
            <a:ext cx="4508732" cy="341647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15CFED-0226-131A-B29E-7CA32EEE65E1}"/>
              </a:ext>
            </a:extLst>
          </p:cNvPr>
          <p:cNvSpPr txBox="1"/>
          <p:nvPr/>
        </p:nvSpPr>
        <p:spPr>
          <a:xfrm>
            <a:off x="339510" y="1295476"/>
            <a:ext cx="6489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50%</a:t>
            </a:r>
            <a:r>
              <a:rPr lang="ko-KR" altLang="en-US" dirty="0"/>
              <a:t>의 확률로는 오른쪽</a:t>
            </a:r>
            <a:r>
              <a:rPr lang="en-US" altLang="ko-KR" dirty="0"/>
              <a:t>, </a:t>
            </a:r>
            <a:r>
              <a:rPr lang="ko-KR" altLang="en-US" dirty="0"/>
              <a:t>나머지 </a:t>
            </a:r>
            <a:r>
              <a:rPr lang="en-US" altLang="ko-KR" dirty="0"/>
              <a:t>50%</a:t>
            </a:r>
            <a:r>
              <a:rPr lang="ko-KR" altLang="en-US" dirty="0"/>
              <a:t>의 확률로는 왼쪽으로 이동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36E26E-1DD9-DBA2-F444-C2AE7A181926}"/>
              </a:ext>
            </a:extLst>
          </p:cNvPr>
          <p:cNvSpPr txBox="1"/>
          <p:nvPr/>
        </p:nvSpPr>
        <p:spPr>
          <a:xfrm>
            <a:off x="1486664" y="5855805"/>
            <a:ext cx="74799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벨만</a:t>
            </a:r>
            <a:r>
              <a:rPr lang="ko-KR" altLang="en-US" dirty="0"/>
              <a:t> 방정식을 통해 무한히 계속되는 계산을 유한한 연립방정식으로 변환</a:t>
            </a:r>
          </a:p>
        </p:txBody>
      </p:sp>
    </p:spTree>
    <p:extLst>
      <p:ext uri="{BB962C8B-B14F-4D97-AF65-F5344CB8AC3E}">
        <p14:creationId xmlns:p14="http://schemas.microsoft.com/office/powerpoint/2010/main" val="802456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D2ADB7-4ABA-8C05-23C9-CE64C8D76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벨만</a:t>
            </a:r>
            <a:r>
              <a:rPr lang="ko-KR" altLang="en-US" dirty="0"/>
              <a:t> 방정식의 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9D7833E-825B-0282-829C-CDBB59CD76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129" y="2720898"/>
                <a:ext cx="8850201" cy="3615508"/>
              </a:xfrm>
            </p:spPr>
            <p:txBody>
              <a:bodyPr/>
              <a:lstStyle/>
              <a:p>
                <a:r>
                  <a:rPr lang="ko-KR" altLang="en-US" dirty="0"/>
                  <a:t>상태는 결정적으로 전이</a:t>
                </a:r>
                <a:endParaRPr lang="en-US" altLang="ko-KR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’=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이면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’ |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ko-KR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’≠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이면</a:t>
                </a:r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’ |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 dirty="0" err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’=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이면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9D7833E-825B-0282-829C-CDBB59CD76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129" y="2720898"/>
                <a:ext cx="8850201" cy="3615508"/>
              </a:xfrm>
              <a:blipFill>
                <a:blip r:embed="rId2"/>
                <a:stretch>
                  <a:fillRect l="-1240" t="-28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80F6E4-D1C4-0114-2AF5-3009E01C3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9</a:t>
            </a:fld>
            <a:endParaRPr lang="ko-KR" altLang="en-US"/>
          </a:p>
        </p:txBody>
      </p:sp>
      <p:pic>
        <p:nvPicPr>
          <p:cNvPr id="5" name="내용 개체 틀 5">
            <a:extLst>
              <a:ext uri="{FF2B5EF4-FFF2-40B4-BE49-F238E27FC236}">
                <a16:creationId xmlns:a16="http://schemas.microsoft.com/office/drawing/2014/main" id="{B05941AA-D072-E131-6756-D8F3E6F01C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03" r="17921"/>
          <a:stretch>
            <a:fillRect/>
          </a:stretch>
        </p:blipFill>
        <p:spPr>
          <a:xfrm>
            <a:off x="1026188" y="1200437"/>
            <a:ext cx="6630981" cy="152046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64E44D6-525A-8EBA-0296-56CA86C3AFE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9" t="40529" r="26175" b="1"/>
          <a:stretch>
            <a:fillRect/>
          </a:stretch>
        </p:blipFill>
        <p:spPr>
          <a:xfrm>
            <a:off x="1793485" y="4810070"/>
            <a:ext cx="5083101" cy="847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915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1BBA023D-3DCE-0CC7-1A2B-D983D862EB6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ko-KR" altLang="en-US" dirty="0"/>
                  <a:t>상태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dirty="0"/>
                  <a:t>에서의 </a:t>
                </a:r>
                <a:r>
                  <a:rPr lang="ko-KR" altLang="en-US" dirty="0" err="1"/>
                  <a:t>벨만</a:t>
                </a:r>
                <a:r>
                  <a:rPr lang="ko-KR" altLang="en-US" dirty="0"/>
                  <a:t> 방정식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1BBA023D-3DCE-0CC7-1A2B-D983D862EB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824" t="-10000" b="-2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0772AC8-5100-B891-59C7-D6F22FA4E38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dirty="0"/>
                  <a:t>할인율을 </a:t>
                </a:r>
                <a:r>
                  <a:rPr lang="en-US" altLang="ko-KR" dirty="0"/>
                  <a:t>0.9</a:t>
                </a:r>
                <a:r>
                  <a:rPr lang="ko-KR" altLang="en-US" dirty="0"/>
                  <a:t>로 설정하고</a:t>
                </a:r>
                <a:r>
                  <a:rPr lang="en-US" altLang="ko-KR" dirty="0"/>
                  <a:t>,</a:t>
                </a:r>
                <a:r>
                  <a:rPr lang="ko-KR" altLang="en-US" dirty="0"/>
                  <a:t> </a:t>
                </a: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dirty="0"/>
                  <a:t>Left</a:t>
                </a:r>
                <a:r>
                  <a:rPr lang="ko-KR" altLang="en-US" dirty="0"/>
                  <a:t>를 선택하는 경우</a:t>
                </a: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0.5{−1+0.9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dirty="0"/>
                  <a:t>Right</a:t>
                </a:r>
                <a:r>
                  <a:rPr lang="ko-KR" altLang="en-US" dirty="0"/>
                  <a:t>를 선택하는 경우</a:t>
                </a: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0.5{1+0.9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dirty="0"/>
                  <a:t>상태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dirty="0"/>
                  <a:t>에서의 </a:t>
                </a:r>
                <a:r>
                  <a:rPr lang="ko-KR" altLang="en-US" dirty="0" err="1"/>
                  <a:t>벨만</a:t>
                </a:r>
                <a:r>
                  <a:rPr lang="ko-KR" altLang="en-US" dirty="0"/>
                  <a:t> 방정식</a:t>
                </a:r>
                <a:endParaRPr lang="en-US" altLang="ko-KR" dirty="0"/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0.5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−1+0.9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0.5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1+0.9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0" indent="0" algn="ctr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ko-KR" alt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0772AC8-5100-B891-59C7-D6F22FA4E38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B36658-2C79-D213-5D7B-D9E1612EB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338B894-7361-E8C5-E4FE-074A4A8C5D5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390" y="2634023"/>
            <a:ext cx="2717940" cy="23623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2631449-8AA0-5BA7-9340-A3E87CF75D3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9" t="40529" r="26175" b="1"/>
          <a:stretch>
            <a:fillRect/>
          </a:stretch>
        </p:blipFill>
        <p:spPr>
          <a:xfrm>
            <a:off x="284353" y="1212185"/>
            <a:ext cx="5083101" cy="84749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C86C621-E74B-3D2B-67EB-BDE66E77907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34" r="23764" b="35517"/>
          <a:stretch>
            <a:fillRect/>
          </a:stretch>
        </p:blipFill>
        <p:spPr>
          <a:xfrm>
            <a:off x="6694483" y="955495"/>
            <a:ext cx="1897753" cy="110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234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53417-EA29-9795-F1AB-A0FA22D6E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73BFC71-B030-24F2-9652-1E854BC0E9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>
                  <a:lnSpc>
                    <a:spcPct val="100000"/>
                  </a:lnSpc>
                </a:pPr>
                <a:r>
                  <a:rPr lang="ko-KR" altLang="en-US" dirty="0"/>
                  <a:t>상태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ko-KR" altLang="en-US" dirty="0"/>
                  <a:t>에서의 </a:t>
                </a:r>
                <a:r>
                  <a:rPr lang="ko-KR" altLang="en-US" dirty="0" err="1"/>
                  <a:t>벨만</a:t>
                </a:r>
                <a:r>
                  <a:rPr lang="ko-KR" altLang="en-US" dirty="0"/>
                  <a:t> 방정식</a:t>
                </a:r>
                <a:endParaRPr lang="en-US" altLang="ko-KR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573BFC71-B030-24F2-9652-1E854BC0E9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824" t="-10000" b="-2857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47E8EB8-62B0-BD86-0ED5-670E6FF368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dirty="0"/>
                  <a:t>할인율을 </a:t>
                </a:r>
                <a:r>
                  <a:rPr lang="en-US" altLang="ko-KR" dirty="0"/>
                  <a:t>0.9</a:t>
                </a:r>
                <a:r>
                  <a:rPr lang="ko-KR" altLang="en-US" dirty="0"/>
                  <a:t>로 설정하고</a:t>
                </a:r>
                <a:r>
                  <a:rPr lang="en-US" altLang="ko-KR" dirty="0"/>
                  <a:t>,</a:t>
                </a: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dirty="0"/>
                  <a:t>Left</a:t>
                </a:r>
                <a:r>
                  <a:rPr lang="ko-KR" altLang="en-US" dirty="0"/>
                  <a:t>를 선택하는 경우</a:t>
                </a: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0.5{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+0.9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ko-KR" dirty="0"/>
                  <a:t>Right</a:t>
                </a:r>
                <a:r>
                  <a:rPr lang="ko-KR" altLang="en-US" dirty="0"/>
                  <a:t>를 선택하는 경우</a:t>
                </a: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0.5{</m:t>
                      </m:r>
                      <m:r>
                        <a:rPr lang="en-US" altLang="ko-KR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+0.9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ko-KR" altLang="en-US" dirty="0"/>
                  <a:t>상태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ko-KR" altLang="en-US" dirty="0"/>
                  <a:t>에서의 </a:t>
                </a:r>
                <a:r>
                  <a:rPr lang="ko-KR" altLang="en-US" dirty="0" err="1"/>
                  <a:t>벨만</a:t>
                </a:r>
                <a:r>
                  <a:rPr lang="ko-KR" altLang="en-US" dirty="0"/>
                  <a:t> 방정식</a:t>
                </a: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0.5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+0.9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0.5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+0.9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5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en-US" altLang="ko-KR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ko-KR" altLang="en-US" dirty="0"/>
              </a:p>
              <a:p>
                <a:pPr marL="0" indent="0">
                  <a:lnSpc>
                    <a:spcPct val="100000"/>
                  </a:lnSpc>
                  <a:buNone/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47E8EB8-62B0-BD86-0ED5-670E6FF36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C6E051-F4FF-33B2-8DE6-CAC762951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86B1F9B-1DF6-D070-61D0-3BDB137AB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9" t="40529" r="26175" b="1"/>
          <a:stretch>
            <a:fillRect/>
          </a:stretch>
        </p:blipFill>
        <p:spPr>
          <a:xfrm>
            <a:off x="284353" y="1212185"/>
            <a:ext cx="5083101" cy="84749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3D71E71-A1E7-601B-93F5-137198FD41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0887" y="2619546"/>
            <a:ext cx="2781443" cy="236232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BEF18AA-EE83-7A94-0D36-765DC83514C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34" r="23764" b="35517"/>
          <a:stretch>
            <a:fillRect/>
          </a:stretch>
        </p:blipFill>
        <p:spPr>
          <a:xfrm>
            <a:off x="6694483" y="955495"/>
            <a:ext cx="1897753" cy="1104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02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B197B-8BCD-0E40-FF46-713A31154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모든 상태에서의 </a:t>
            </a:r>
            <a:r>
              <a:rPr lang="ko-KR" altLang="en-US" dirty="0" err="1"/>
              <a:t>벨만</a:t>
            </a:r>
            <a:r>
              <a:rPr lang="ko-KR" altLang="en-US" dirty="0"/>
              <a:t> 방정식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DED6BCA-BCD3-F87F-96E6-A68B6581A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0.55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+0.45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i="1">
                          <a:latin typeface="Cambria Math" panose="02040503050406030204" pitchFamily="18" charset="0"/>
                        </a:rPr>
                        <m:t>0.45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−0.55</m:t>
                      </m:r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=0.5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pPr marL="0" indent="0">
                  <a:buNone/>
                </a:pPr>
                <a:r>
                  <a:rPr lang="ko-KR" altLang="en-US" dirty="0"/>
                  <a:t>연립 방정식을 풀면</a:t>
                </a:r>
                <a:endParaRPr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=−2.25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=−2.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DED6BCA-BCD3-F87F-96E6-A68B6581A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7161F5E-2B90-EB78-F4E4-523AC5A6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5" name="내용 개체 틀 5">
            <a:extLst>
              <a:ext uri="{FF2B5EF4-FFF2-40B4-BE49-F238E27FC236}">
                <a16:creationId xmlns:a16="http://schemas.microsoft.com/office/drawing/2014/main" id="{740446DB-8B6A-6976-A69C-4352EEEC9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6535" y="4016433"/>
            <a:ext cx="4610337" cy="237502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76FECD-B1F9-03FB-4630-5FE8362C53AE}"/>
                  </a:ext>
                </a:extLst>
              </p:cNvPr>
              <p:cNvSpPr txBox="1"/>
              <p:nvPr/>
            </p:nvSpPr>
            <p:spPr>
              <a:xfrm>
                <a:off x="5878150" y="2719809"/>
                <a:ext cx="3113721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i="0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1400" dirty="0"/>
                  <a:t>에서 무작위로 행동하면 </a:t>
                </a:r>
                <a:r>
                  <a:rPr lang="en-US" altLang="ko-KR" sz="1400" dirty="0"/>
                  <a:t>-2.25</a:t>
                </a:r>
                <a:r>
                  <a:rPr lang="ko-KR" altLang="en-US" sz="1400" dirty="0"/>
                  <a:t>의 수익을 기대할 수 있음 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첫번째 행동에서 사과를 얻을 확률이 </a:t>
                </a:r>
                <a:r>
                  <a:rPr lang="en-US" altLang="ko-KR" sz="1400" dirty="0"/>
                  <a:t>50%</a:t>
                </a:r>
                <a:r>
                  <a:rPr lang="ko-KR" altLang="en-US" sz="1400" dirty="0"/>
                  <a:t>이기 때문</a:t>
                </a:r>
                <a:r>
                  <a:rPr lang="en-US" altLang="ko-KR" sz="1400" dirty="0"/>
                  <a:t>)</a:t>
                </a:r>
                <a:endParaRPr lang="ko-KR" altLang="en-US" sz="14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876FECD-B1F9-03FB-4630-5FE8362C53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8150" y="2719809"/>
                <a:ext cx="3113721" cy="738664"/>
              </a:xfrm>
              <a:prstGeom prst="rect">
                <a:avLst/>
              </a:prstGeom>
              <a:blipFill>
                <a:blip r:embed="rId4"/>
                <a:stretch>
                  <a:fillRect l="-587" t="-2479"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70134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F1426-F5B4-63B7-2426-BD3215E1A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ko-KR" altLang="en-US" sz="3200" dirty="0"/>
              <a:t>행동 가치 함수</a:t>
            </a:r>
            <a:r>
              <a:rPr lang="en-US" altLang="ko-KR" sz="3200" dirty="0"/>
              <a:t>(action-value function, </a:t>
            </a:r>
            <a:r>
              <a:rPr lang="en-US" altLang="ko-KR" sz="3200" dirty="0">
                <a:solidFill>
                  <a:srgbClr val="FF0000"/>
                </a:solidFill>
              </a:rPr>
              <a:t>Q</a:t>
            </a:r>
            <a:r>
              <a:rPr lang="ko-KR" altLang="en-US" sz="3200" dirty="0">
                <a:solidFill>
                  <a:srgbClr val="FF0000"/>
                </a:solidFill>
              </a:rPr>
              <a:t>함수</a:t>
            </a:r>
            <a:r>
              <a:rPr lang="en-US" altLang="ko-KR" sz="3200" dirty="0"/>
              <a:t>) </a:t>
            </a:r>
            <a:endParaRPr lang="ko-KR" alt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504B6EB-384F-069C-6E56-847E28435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lnSpc>
                    <a:spcPct val="100000"/>
                  </a:lnSpc>
                </a:pPr>
                <a:r>
                  <a:rPr lang="ko-KR" altLang="en-US" dirty="0">
                    <a:latin typeface="+mn-ea"/>
                  </a:rPr>
                  <a:t>상태 가치 함수의 조건은 </a:t>
                </a:r>
                <a:r>
                  <a:rPr lang="ko-KR" altLang="en-US" dirty="0">
                    <a:solidFill>
                      <a:srgbClr val="7030A0"/>
                    </a:solidFill>
                    <a:latin typeface="+mn-ea"/>
                  </a:rPr>
                  <a:t>상태</a:t>
                </a:r>
                <a:r>
                  <a:rPr lang="ko-KR" altLang="en-US" dirty="0">
                    <a:latin typeface="+mn-ea"/>
                  </a:rPr>
                  <a:t>와 </a:t>
                </a:r>
                <a:r>
                  <a:rPr lang="ko-KR" altLang="en-US" dirty="0">
                    <a:solidFill>
                      <a:srgbClr val="7030A0"/>
                    </a:solidFill>
                    <a:latin typeface="+mn-ea"/>
                  </a:rPr>
                  <a:t>정책</a:t>
                </a:r>
                <a:endParaRPr lang="en-US" altLang="ko-KR" dirty="0">
                  <a:solidFill>
                    <a:srgbClr val="7030A0"/>
                  </a:solidFill>
                  <a:latin typeface="+mn-ea"/>
                </a:endParaRPr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altLang="ko-KR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여기에 </a:t>
                </a:r>
                <a:r>
                  <a:rPr lang="ko-KR" altLang="en-US" dirty="0">
                    <a:solidFill>
                      <a:srgbClr val="FF0000"/>
                    </a:solidFill>
                  </a:rPr>
                  <a:t>행동</a:t>
                </a:r>
                <a:r>
                  <a:rPr lang="ko-KR" altLang="en-US" dirty="0"/>
                  <a:t>을 추가하여 </a:t>
                </a:r>
                <a:r>
                  <a:rPr lang="en-US" altLang="ko-KR" dirty="0"/>
                  <a:t>Q</a:t>
                </a:r>
                <a:r>
                  <a:rPr lang="ko-KR" altLang="en-US" dirty="0"/>
                  <a:t>함수를 정의</a:t>
                </a:r>
                <a:endParaRPr lang="en-US" altLang="ko-KR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altLang="ko-KR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r>
                            <a:rPr lang="ko-KR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altLang="ko-KR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</m:oMath>
                  </m:oMathPara>
                </a14:m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행동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dirty="0"/>
                  <a:t>는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자유롭게 결정할 수 있으며</a:t>
                </a:r>
                <a:r>
                  <a:rPr lang="en-US" altLang="ko-KR" dirty="0"/>
                  <a:t>, ‘</a:t>
                </a:r>
                <a:r>
                  <a:rPr lang="ko-KR" altLang="en-US" dirty="0"/>
                  <a:t>다음 행동부터</a:t>
                </a:r>
                <a:r>
                  <a:rPr lang="en-US" altLang="ko-KR" dirty="0"/>
                  <a:t>’ </a:t>
                </a:r>
                <a:r>
                  <a:rPr lang="ko-KR" altLang="en-US" dirty="0"/>
                  <a:t>정책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ko-KR" altLang="en-US" dirty="0"/>
                  <a:t>를 따름</a:t>
                </a: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ko-KR" altLang="en-US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504B6EB-384F-069C-6E56-847E28435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1155" r="-1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D59192-5152-4871-3EBF-F4A7AAC99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C65547A-EE8D-44A2-7F1D-9437E7B590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76"/>
          <a:stretch>
            <a:fillRect/>
          </a:stretch>
        </p:blipFill>
        <p:spPr>
          <a:xfrm>
            <a:off x="1669901" y="3953182"/>
            <a:ext cx="5804198" cy="247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5849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0CCEA4-989B-DF76-CFB9-ADC6D48B98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</a:t>
            </a:r>
            <a:r>
              <a:rPr lang="ko-KR" altLang="en-US" dirty="0"/>
              <a:t>함수와 상태 가치 함수의 관계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C5F80B-3BEA-2556-D6A9-A18094DAA9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sz="2400" dirty="0"/>
                  <a:t>Q </a:t>
                </a:r>
                <a:r>
                  <a:rPr lang="ko-KR" altLang="en-US" sz="2400" dirty="0"/>
                  <a:t>함수의 행동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en-US" sz="2400" dirty="0"/>
                  <a:t>를 정책 </a:t>
                </a:r>
                <a14:m>
                  <m:oMath xmlns:m="http://schemas.openxmlformats.org/officeDocument/2006/math"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ko-KR" altLang="en-US" sz="2400" dirty="0"/>
                  <a:t>에 따라 선택하도록 설계한다면</a:t>
                </a:r>
                <a:r>
                  <a:rPr lang="en-US" altLang="ko-KR" sz="2400" dirty="0"/>
                  <a:t>,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sz="2400" dirty="0"/>
                  <a:t>예를 들어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상태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sz="2400" dirty="0"/>
                  <a:t>에서 취할 수 있는 행동 후보가 </a:t>
                </a:r>
                <a14:m>
                  <m:oMath xmlns:m="http://schemas.openxmlformats.org/officeDocument/2006/math">
                    <m:r>
                      <a:rPr lang="en-US" altLang="ko-KR" sz="2400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sz="2400" dirty="0"/>
              </a:p>
              <a:p>
                <a:pPr lvl="1"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800" dirty="0"/>
                  <a:t>의 확률로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1800" dirty="0"/>
                  <a:t>를 선택하는 경우 </a:t>
                </a:r>
                <a:r>
                  <a:rPr lang="en-US" altLang="ko-KR" sz="1800" dirty="0"/>
                  <a:t>Q </a:t>
                </a:r>
                <a:r>
                  <a:rPr lang="ko-KR" altLang="en-US" sz="1800" dirty="0"/>
                  <a:t>함수는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sz="1800" dirty="0"/>
              </a:p>
              <a:p>
                <a:pPr lvl="1"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800" dirty="0"/>
                  <a:t>의 확률로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1800" dirty="0"/>
                  <a:t>를 선택하는 경우 </a:t>
                </a:r>
                <a:r>
                  <a:rPr lang="en-US" altLang="ko-KR" sz="1800" dirty="0"/>
                  <a:t>Q </a:t>
                </a:r>
                <a:r>
                  <a:rPr lang="ko-KR" altLang="en-US" sz="1800" dirty="0"/>
                  <a:t>함수는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800" dirty="0"/>
              </a:p>
              <a:p>
                <a:pPr lvl="1" algn="just">
                  <a:lnSpc>
                    <a:spcPct val="100000"/>
                  </a:lnSpc>
                </a:pPr>
                <a14:m>
                  <m:oMath xmlns:m="http://schemas.openxmlformats.org/officeDocument/2006/math"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ko-KR" sz="1800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1800" dirty="0"/>
                  <a:t>의 확률로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1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sz="1800" dirty="0"/>
                  <a:t>를 선택하는 경우 </a:t>
                </a:r>
                <a:r>
                  <a:rPr lang="en-US" altLang="ko-KR" sz="1800" dirty="0"/>
                  <a:t>Q </a:t>
                </a:r>
                <a:r>
                  <a:rPr lang="ko-KR" altLang="en-US" sz="1800" dirty="0"/>
                  <a:t>함수는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sz="1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sz="18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ko-KR" altLang="en-US" sz="1800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sz="2400" dirty="0"/>
                  <a:t>기대 수익은 </a:t>
                </a:r>
                <a:r>
                  <a:rPr lang="en-US" altLang="ko-KR" sz="2400" dirty="0"/>
                  <a:t>Q </a:t>
                </a:r>
                <a:r>
                  <a:rPr lang="ko-KR" altLang="en-US" sz="2400" dirty="0"/>
                  <a:t>함수의 가중 합</a:t>
                </a:r>
                <a:endParaRPr lang="en-US" altLang="ko-KR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𝜋</m:t>
                      </m:r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</m:sub>
                      </m:sSub>
                      <m:d>
                        <m:dPr>
                          <m:ctrlPr>
                            <a:rPr lang="en-US" altLang="ko-K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brk m:alnAt="9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m:rPr>
                              <m:brk m:alnAt="9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9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{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m:rPr>
                              <m:brk m:alnAt="9"/>
                            </m:rP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}</m:t>
                          </m:r>
                        </m:sub>
                        <m:sup/>
                        <m:e>
                          <m:r>
                            <a:rPr lang="en-US" altLang="ko-KR" sz="2000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altLang="ko-KR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ko-K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altLang="ko-KR" sz="2400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sz="2400" dirty="0"/>
                  <a:t>위 식은 상태 가치 함수와 똑같은 조건에서의 기대 수익이므로 다음이 성립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C5F80B-3BEA-2556-D6A9-A18094DAA9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4" t="-1617" r="-10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412A4B0-FADD-D56B-EF65-FD0BDDA77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5D2A141-0DA8-BA7D-312B-9C701A26F6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53" t="6303" r="33552"/>
          <a:stretch>
            <a:fillRect/>
          </a:stretch>
        </p:blipFill>
        <p:spPr>
          <a:xfrm>
            <a:off x="2404969" y="5344731"/>
            <a:ext cx="3984022" cy="91440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74736E98-53A1-12E2-808A-666C965CFB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59" t="40529" r="26175" b="1"/>
          <a:stretch>
            <a:fillRect/>
          </a:stretch>
        </p:blipFill>
        <p:spPr>
          <a:xfrm>
            <a:off x="5827902" y="4877638"/>
            <a:ext cx="3091893" cy="51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8182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08B828-F617-087A-FFC2-072B31EF2B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</a:t>
            </a:r>
            <a:r>
              <a:rPr lang="ko-KR" altLang="en-US" dirty="0"/>
              <a:t>함수와 상태 가치 함수의 관계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12A99B0-54BF-55C0-B228-69FF499C11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lvl="0" algn="just">
                  <a:lnSpc>
                    <a:spcPct val="100000"/>
                  </a:lnSpc>
                </a:pPr>
                <a:r>
                  <a:rPr lang="ko-KR" altLang="ko-KR" sz="3200" b="1" dirty="0"/>
                  <a:t>상태 가치 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3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ko-KR" altLang="en-US" sz="3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ko-KR" alt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32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ko-KR" altLang="ko-KR" sz="3200" b="1" dirty="0"/>
                  <a:t>:</a:t>
                </a:r>
                <a:r>
                  <a:rPr lang="ko-KR" altLang="ko-KR" sz="3200" dirty="0"/>
                  <a:t> 특정 상태 </a:t>
                </a:r>
                <a14:m>
                  <m:oMath xmlns:m="http://schemas.openxmlformats.org/officeDocument/2006/math">
                    <m:r>
                      <a:rPr lang="ko-KR" altLang="en-US" sz="3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ko-KR" sz="3200" dirty="0"/>
                  <a:t>에서 정책 </a:t>
                </a:r>
                <a14:m>
                  <m:oMath xmlns:m="http://schemas.openxmlformats.org/officeDocument/2006/math">
                    <m:r>
                      <a:rPr lang="ko-KR" altLang="en-US" sz="32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ko-KR" altLang="ko-KR" sz="3200" dirty="0"/>
                  <a:t>를 따를 때 기대되는 총 보상</a:t>
                </a:r>
                <a:endParaRPr lang="en-US" altLang="ko-KR" sz="3200" dirty="0"/>
              </a:p>
              <a:p>
                <a:pPr lvl="0" algn="just">
                  <a:lnSpc>
                    <a:spcPct val="100000"/>
                  </a:lnSpc>
                </a:pPr>
                <a:endParaRPr lang="ko-KR" altLang="ko-KR" sz="3200" dirty="0"/>
              </a:p>
              <a:p>
                <a:pPr lvl="0" algn="just">
                  <a:lnSpc>
                    <a:spcPct val="100000"/>
                  </a:lnSpc>
                </a:pPr>
                <a:r>
                  <a:rPr lang="ko-KR" altLang="ko-KR" sz="3200" b="1" dirty="0" err="1"/>
                  <a:t>Q</a:t>
                </a:r>
                <a:r>
                  <a:rPr lang="ko-KR" altLang="ko-KR" sz="3200" b="1" dirty="0"/>
                  <a:t> 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32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ko-KR" altLang="en-US" sz="3200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ko-KR" altLang="en-US" sz="3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sz="32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ko-KR" altLang="en-US" sz="320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ko-KR" altLang="en-US" sz="32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ko-KR" altLang="ko-KR" sz="3200" b="1" dirty="0"/>
                  <a:t>:</a:t>
                </a:r>
                <a:r>
                  <a:rPr lang="ko-KR" altLang="ko-KR" sz="3200" dirty="0"/>
                  <a:t> 특정 상태 </a:t>
                </a:r>
                <a14:m>
                  <m:oMath xmlns:m="http://schemas.openxmlformats.org/officeDocument/2006/math">
                    <m:r>
                      <a:rPr lang="ko-KR" altLang="en-US" sz="32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ko-KR" sz="3200" dirty="0"/>
                  <a:t>에서 특정 행동 </a:t>
                </a:r>
                <a14:m>
                  <m:oMath xmlns:m="http://schemas.openxmlformats.org/officeDocument/2006/math">
                    <m:r>
                      <a:rPr lang="ko-KR" altLang="en-US" sz="32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ko-KR" altLang="ko-KR" sz="3200" dirty="0"/>
                  <a:t>를 취한 후, 정책 </a:t>
                </a:r>
                <a14:m>
                  <m:oMath xmlns:m="http://schemas.openxmlformats.org/officeDocument/2006/math">
                    <m:r>
                      <a:rPr lang="ko-KR" altLang="en-US" sz="32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ko-KR" altLang="ko-KR" sz="3200" dirty="0"/>
                  <a:t>를 따를 때 기대되는 총 보상</a:t>
                </a:r>
                <a:endParaRPr lang="en-US" altLang="ko-KR" sz="3200" dirty="0"/>
              </a:p>
              <a:p>
                <a:pPr lvl="0" algn="just">
                  <a:lnSpc>
                    <a:spcPct val="100000"/>
                  </a:lnSpc>
                </a:pPr>
                <a:endParaRPr lang="ko-KR" altLang="ko-KR" sz="3200" dirty="0"/>
              </a:p>
              <a:p>
                <a:pPr lvl="0" algn="just">
                  <a:lnSpc>
                    <a:spcPct val="100000"/>
                  </a:lnSpc>
                </a:pPr>
                <a:r>
                  <a:rPr lang="ko-KR" altLang="ko-KR" sz="3200" b="1" dirty="0"/>
                  <a:t>수학적 관계:</a:t>
                </a:r>
                <a:r>
                  <a:rPr lang="ko-KR" altLang="ko-KR" sz="3200" dirty="0"/>
                  <a:t> 상태 가치 함수는 해당 상태에서 취할 수 있는 모든 행동에 대한 </a:t>
                </a:r>
                <a:r>
                  <a:rPr lang="ko-KR" altLang="ko-KR" sz="3200" dirty="0" err="1"/>
                  <a:t>Q</a:t>
                </a:r>
                <a:r>
                  <a:rPr lang="ko-KR" altLang="ko-KR" sz="3200" dirty="0"/>
                  <a:t> 함수의 </a:t>
                </a:r>
                <a:r>
                  <a:rPr lang="ko-KR" altLang="ko-KR" sz="3200" dirty="0" err="1"/>
                  <a:t>기댓값</a:t>
                </a:r>
                <a:r>
                  <a:rPr lang="ko-KR" altLang="ko-KR" sz="3200" dirty="0"/>
                  <a:t>(가중 평균)</a:t>
                </a:r>
              </a:p>
              <a:p>
                <a:pPr algn="just">
                  <a:lnSpc>
                    <a:spcPct val="100000"/>
                  </a:lnSpc>
                </a:pPr>
                <a:endParaRPr lang="ko-KR" altLang="en-US" sz="32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12A99B0-54BF-55C0-B228-69FF499C11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584" t="-1617" r="-17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A8A677-AC1F-99C2-F701-9F1BF229C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76483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54DB5-20DD-E6CA-C3DF-7F2DEDBAE2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</a:t>
            </a:r>
            <a:r>
              <a:rPr lang="ko-KR" altLang="en-US" dirty="0"/>
              <a:t>함수를 이용한 </a:t>
            </a:r>
            <a:r>
              <a:rPr lang="ko-KR" altLang="en-US" dirty="0" err="1"/>
              <a:t>벨만</a:t>
            </a:r>
            <a:r>
              <a:rPr lang="ko-KR" altLang="en-US" dirty="0"/>
              <a:t> 방정식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E452CC8B-20A2-F7E9-8A72-3C67453175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634" r="23605"/>
          <a:stretch>
            <a:fillRect/>
          </a:stretch>
        </p:blipFill>
        <p:spPr>
          <a:xfrm>
            <a:off x="603830" y="1043510"/>
            <a:ext cx="4941859" cy="1045485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7478605-B22B-94CD-5A68-B4E760C1A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2B378B26-813A-E1D9-F531-EE6EF68FE314}"/>
              </a:ext>
            </a:extLst>
          </p:cNvPr>
          <p:cNvSpPr txBox="1">
            <a:spLocks/>
          </p:cNvSpPr>
          <p:nvPr/>
        </p:nvSpPr>
        <p:spPr>
          <a:xfrm>
            <a:off x="152129" y="1056068"/>
            <a:ext cx="8850201" cy="5280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D4C51A1F-3922-F899-B527-ABE2EF131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84"/>
          <a:stretch>
            <a:fillRect/>
          </a:stretch>
        </p:blipFill>
        <p:spPr>
          <a:xfrm>
            <a:off x="141670" y="2199092"/>
            <a:ext cx="8679490" cy="311387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46894C4D-403C-7919-13AC-07CCED364B4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1" t="-8849" r="13234"/>
          <a:stretch>
            <a:fillRect/>
          </a:stretch>
        </p:blipFill>
        <p:spPr>
          <a:xfrm>
            <a:off x="746126" y="5316037"/>
            <a:ext cx="6977952" cy="1032927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C2E035F9-2757-B188-94FF-46F55D5442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553" t="6303" r="33552"/>
          <a:stretch>
            <a:fillRect/>
          </a:stretch>
        </p:blipFill>
        <p:spPr>
          <a:xfrm>
            <a:off x="6824840" y="4581979"/>
            <a:ext cx="2167031" cy="497371"/>
          </a:xfrm>
          <a:prstGeom prst="rect">
            <a:avLst/>
          </a:prstGeom>
        </p:spPr>
      </p:pic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F5962E76-076B-4161-4CEB-72159366B82E}"/>
              </a:ext>
            </a:extLst>
          </p:cNvPr>
          <p:cNvCxnSpPr/>
          <p:nvPr/>
        </p:nvCxnSpPr>
        <p:spPr>
          <a:xfrm flipH="1">
            <a:off x="6021659" y="5382322"/>
            <a:ext cx="327102" cy="32710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8B8ED8-2712-79CA-1696-655220B157C6}"/>
                  </a:ext>
                </a:extLst>
              </p:cNvPr>
              <p:cNvSpPr txBox="1"/>
              <p:nvPr/>
            </p:nvSpPr>
            <p:spPr>
              <a:xfrm>
                <a:off x="6253868" y="5142608"/>
                <a:ext cx="18926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ko-KR" altLang="en-US" dirty="0"/>
                  <a:t>에서의 행동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F8B8ED8-2712-79CA-1696-655220B15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868" y="5142608"/>
                <a:ext cx="1892698" cy="369332"/>
              </a:xfrm>
              <a:prstGeom prst="rect">
                <a:avLst/>
              </a:prstGeom>
              <a:blipFill>
                <a:blip r:embed="rId6"/>
                <a:stretch>
                  <a:fillRect t="-13333" r="-1935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8112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80667-B89B-339A-C4C6-E77E3379D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벨만</a:t>
            </a:r>
            <a:r>
              <a:rPr lang="ko-KR" altLang="en-US" dirty="0"/>
              <a:t> 최적 방정식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AF5B826-190D-8F3A-0EBF-C29A252F01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lnSpc>
                    <a:spcPct val="100000"/>
                  </a:lnSpc>
                </a:pPr>
                <a:r>
                  <a:rPr lang="ko-KR" altLang="en-US" dirty="0" err="1"/>
                  <a:t>벨만</a:t>
                </a:r>
                <a:r>
                  <a:rPr lang="ko-KR" altLang="en-US" dirty="0"/>
                  <a:t> 방정식은 어떤 정책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ko-KR" altLang="en-US" dirty="0"/>
                  <a:t>에 대해 성립하는 방정식</a:t>
                </a: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우리의 궁극적인 목표는 최적 정책을 찾는 것</a:t>
                </a:r>
                <a:endParaRPr lang="en-US" altLang="ko-KR" dirty="0"/>
              </a:p>
              <a:p>
                <a:pPr lvl="1" algn="just">
                  <a:lnSpc>
                    <a:spcPct val="100000"/>
                  </a:lnSpc>
                </a:pPr>
                <a:r>
                  <a:rPr lang="ko-KR" altLang="en-US" dirty="0"/>
                  <a:t>모든 상태에서 상태 가치 함수가 최대인 정책</a:t>
                </a: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최적 정책도 당연히 </a:t>
                </a:r>
                <a:r>
                  <a:rPr lang="ko-KR" altLang="en-US" dirty="0" err="1"/>
                  <a:t>벨만</a:t>
                </a:r>
                <a:r>
                  <a:rPr lang="ko-KR" altLang="en-US" dirty="0"/>
                  <a:t> 방정식을 만족</a:t>
                </a: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r>
                  <a:rPr lang="en-US" altLang="ko-KR" dirty="0"/>
                  <a:t>‘</a:t>
                </a:r>
                <a:r>
                  <a:rPr lang="ko-KR" altLang="en-US" dirty="0"/>
                  <a:t>최적이다</a:t>
                </a:r>
                <a:r>
                  <a:rPr lang="en-US" altLang="ko-KR" dirty="0"/>
                  <a:t>’</a:t>
                </a:r>
                <a:r>
                  <a:rPr lang="ko-KR" altLang="en-US" dirty="0"/>
                  <a:t>라는 성질을 이용하면 </a:t>
                </a:r>
                <a:r>
                  <a:rPr lang="ko-KR" altLang="en-US" dirty="0" err="1"/>
                  <a:t>벨만</a:t>
                </a:r>
                <a:r>
                  <a:rPr lang="ko-KR" altLang="en-US" dirty="0"/>
                  <a:t> 방정식을 간단하게 표현 가능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AF5B826-190D-8F3A-0EBF-C29A252F01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1155" r="-1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B14109-05FA-3F53-304C-A50F9DBBE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1731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BC72C0-9DF6-A81E-1341-6EE091468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상태 가치 함수의 </a:t>
            </a:r>
            <a:r>
              <a:rPr lang="ko-KR" altLang="en-US" dirty="0" err="1"/>
              <a:t>벨만</a:t>
            </a:r>
            <a:r>
              <a:rPr lang="ko-KR" altLang="en-US" dirty="0"/>
              <a:t> 최적 방정식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421E15-90F1-54D4-CE36-FDC984EFD2C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129" y="2402192"/>
                <a:ext cx="8850201" cy="3934214"/>
              </a:xfrm>
            </p:spPr>
            <p:txBody>
              <a:bodyPr/>
              <a:lstStyle/>
              <a:p>
                <a:r>
                  <a:rPr lang="ko-KR" altLang="en-US" dirty="0"/>
                  <a:t>최적 정책을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라 하면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F421E15-90F1-54D4-CE36-FDC984EFD2C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129" y="2402192"/>
                <a:ext cx="8850201" cy="3934214"/>
              </a:xfrm>
              <a:blipFill>
                <a:blip r:embed="rId2"/>
                <a:stretch>
                  <a:fillRect l="-1240" t="-263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323F97-6585-DC2D-0C96-24692AB87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89DF814-0880-D77F-6C0B-2B9B8559E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31" r="17347"/>
          <a:stretch>
            <a:fillRect/>
          </a:stretch>
        </p:blipFill>
        <p:spPr>
          <a:xfrm>
            <a:off x="1709854" y="1048653"/>
            <a:ext cx="4922234" cy="127080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8893A17-3186-CCFE-821E-F0601B797D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00" t="-1583" r="16487"/>
          <a:stretch>
            <a:fillRect/>
          </a:stretch>
        </p:blipFill>
        <p:spPr>
          <a:xfrm>
            <a:off x="960331" y="3008530"/>
            <a:ext cx="6712538" cy="840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983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20979E-2CD1-0FB5-FD11-669596788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상태 가치 함수의 </a:t>
            </a:r>
            <a:r>
              <a:rPr lang="ko-KR" altLang="en-US" dirty="0" err="1"/>
              <a:t>벨만</a:t>
            </a:r>
            <a:r>
              <a:rPr lang="ko-KR" altLang="en-US" dirty="0"/>
              <a:t> 최적 방정식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3AAAA8F-EB59-3A4E-13A2-63738D2E38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 sz="2400" dirty="0"/>
                  <a:t>세 개의 행동 후보가 있을 때</a:t>
                </a:r>
                <a:r>
                  <a:rPr lang="en-US" altLang="ko-KR" sz="2400" dirty="0"/>
                  <a:t>,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sz="24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endParaRPr lang="en-US" altLang="ko-KR" sz="2400" dirty="0"/>
              </a:p>
              <a:p>
                <a:r>
                  <a:rPr lang="ko-KR" altLang="en-US" sz="2400" dirty="0"/>
                  <a:t>최적 정책이기 때문에 행동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sz="2400" dirty="0"/>
                  <a:t>를 </a:t>
                </a:r>
                <a:r>
                  <a:rPr lang="en-US" altLang="ko-KR" sz="2400" dirty="0"/>
                  <a:t>100%</a:t>
                </a:r>
                <a:r>
                  <a:rPr lang="ko-KR" altLang="en-US" sz="2400" dirty="0"/>
                  <a:t>확률로 선택</a:t>
                </a:r>
                <a:endParaRPr lang="en-US" altLang="ko-KR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e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ko-KR" altLang="en-US" sz="2400" dirty="0"/>
                  <a:t>는 결정적 정책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ko-KR" altLang="en-US" sz="2400" dirty="0"/>
                  <a:t>로 나타낼 수 있고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r>
                      <a:rPr lang="en-US" altLang="ko-KR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sz="2400" dirty="0"/>
                  <a:t>는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altLang="ko-KR" sz="2400" dirty="0"/>
              </a:p>
              <a:p>
                <a:r>
                  <a:rPr lang="en-US" altLang="ko-KR" sz="2400" dirty="0"/>
                  <a:t>max</a:t>
                </a:r>
                <a:r>
                  <a:rPr lang="ko-KR" altLang="en-US" sz="2400" dirty="0"/>
                  <a:t> 연산자를 사용하여 표현한 </a:t>
                </a:r>
                <a:r>
                  <a:rPr lang="ko-KR" altLang="en-US" sz="2400" dirty="0" err="1"/>
                  <a:t>벨만</a:t>
                </a:r>
                <a:r>
                  <a:rPr lang="ko-KR" altLang="en-US" sz="2400" dirty="0"/>
                  <a:t> 최적 방정식</a:t>
                </a:r>
                <a:endParaRPr lang="en-US" altLang="ko-KR" sz="2400" dirty="0"/>
              </a:p>
              <a:p>
                <a:endParaRPr lang="ko-KR" altLang="en-US" sz="24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3AAAA8F-EB59-3A4E-13A2-63738D2E38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4" t="-161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0C05BB-1612-E8A3-7B66-B5367E956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19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2E7E150-1973-CCE8-BA42-9A385931BE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79"/>
          <a:stretch>
            <a:fillRect/>
          </a:stretch>
        </p:blipFill>
        <p:spPr>
          <a:xfrm>
            <a:off x="1653033" y="1576599"/>
            <a:ext cx="4227377" cy="1739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DE0F4D-CAA7-88E4-6EBA-A50F49EC229C}"/>
              </a:ext>
            </a:extLst>
          </p:cNvPr>
          <p:cNvSpPr txBox="1"/>
          <p:nvPr/>
        </p:nvSpPr>
        <p:spPr>
          <a:xfrm>
            <a:off x="5456662" y="2743200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가정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24D9B0D-0E23-A713-2067-28A58E685B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305" t="8154" r="22306"/>
          <a:stretch>
            <a:fillRect/>
          </a:stretch>
        </p:blipFill>
        <p:spPr>
          <a:xfrm>
            <a:off x="1653033" y="4913410"/>
            <a:ext cx="5653104" cy="73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164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754318-DD72-C6A0-2E77-E8D72130A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 </a:t>
            </a:r>
            <a:r>
              <a:rPr lang="ko-KR" altLang="en-US" dirty="0"/>
              <a:t>함수의 </a:t>
            </a:r>
            <a:r>
              <a:rPr lang="ko-KR" altLang="en-US" dirty="0" err="1"/>
              <a:t>벨만</a:t>
            </a:r>
            <a:r>
              <a:rPr lang="ko-KR" altLang="en-US" dirty="0"/>
              <a:t> 최적 방정식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788E34-9DCC-C05A-8F1A-1708C6D2A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129" y="2145114"/>
            <a:ext cx="8850201" cy="4191292"/>
          </a:xfrm>
        </p:spPr>
        <p:txBody>
          <a:bodyPr/>
          <a:lstStyle/>
          <a:p>
            <a:r>
              <a:rPr lang="en-US" altLang="ko-KR" dirty="0"/>
              <a:t>max </a:t>
            </a:r>
            <a:r>
              <a:rPr lang="ko-KR" altLang="en-US" dirty="0"/>
              <a:t>연산자를 사용하여 표현한 </a:t>
            </a:r>
            <a:r>
              <a:rPr lang="ko-KR" altLang="en-US" dirty="0" err="1"/>
              <a:t>벨만</a:t>
            </a:r>
            <a:r>
              <a:rPr lang="ko-KR" altLang="en-US" dirty="0"/>
              <a:t> 최적 방정식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9006936-3F49-B43E-72DC-87084AA21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1AF00ED-6459-9767-51D2-2B5F43CFA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14" t="6697" r="12389"/>
          <a:stretch>
            <a:fillRect/>
          </a:stretch>
        </p:blipFill>
        <p:spPr>
          <a:xfrm>
            <a:off x="658796" y="1076012"/>
            <a:ext cx="7563370" cy="959005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6711C14-0D08-8BA3-1DB7-03E5B35F3C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677" t="4294" r="18314"/>
          <a:stretch>
            <a:fillRect/>
          </a:stretch>
        </p:blipFill>
        <p:spPr>
          <a:xfrm>
            <a:off x="744378" y="3214216"/>
            <a:ext cx="7392205" cy="85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539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0EB663-6B93-FB7B-578A-51AAD2C006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벨만</a:t>
            </a:r>
            <a:r>
              <a:rPr lang="ko-KR" altLang="en-US" dirty="0"/>
              <a:t> 최적 방정식의 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873F3C-B0B6-15B6-A867-B3EDC050B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‘</a:t>
            </a:r>
            <a:r>
              <a:rPr lang="ko-KR" altLang="en-US" dirty="0"/>
              <a:t>두 칸짜리 그리드 월드</a:t>
            </a:r>
            <a:r>
              <a:rPr lang="en-US" altLang="ko-KR" dirty="0"/>
              <a:t>’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상태 전이가 결정적이라면</a:t>
            </a:r>
            <a:r>
              <a:rPr lang="en-US" altLang="ko-KR" dirty="0"/>
              <a:t>,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B0DA80-40FC-03CE-1730-6EDF013B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4FFC0E9-7474-CDFF-62C4-DD35D7BDEB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743"/>
          <a:stretch>
            <a:fillRect/>
          </a:stretch>
        </p:blipFill>
        <p:spPr>
          <a:xfrm>
            <a:off x="657410" y="1724722"/>
            <a:ext cx="1866996" cy="109208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D655B6C-38C0-0CE6-8165-92B3859C13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75" t="6484" r="20975"/>
          <a:stretch>
            <a:fillRect/>
          </a:stretch>
        </p:blipFill>
        <p:spPr>
          <a:xfrm>
            <a:off x="1244842" y="3247680"/>
            <a:ext cx="5936543" cy="75084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4554E1C-3C76-AB1E-C577-E1520E16DE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353" t="-3717" r="29287"/>
          <a:stretch>
            <a:fillRect/>
          </a:stretch>
        </p:blipFill>
        <p:spPr>
          <a:xfrm>
            <a:off x="1244842" y="4717427"/>
            <a:ext cx="4141057" cy="1222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97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732FB6-7EB8-66D6-D7B2-5716F3E08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벨만</a:t>
            </a:r>
            <a:r>
              <a:rPr lang="ko-KR" altLang="en-US" dirty="0"/>
              <a:t> 최적 방정식의 예</a:t>
            </a:r>
          </a:p>
        </p:txBody>
      </p:sp>
      <p:pic>
        <p:nvPicPr>
          <p:cNvPr id="6" name="내용 개체 틀 5">
            <a:extLst>
              <a:ext uri="{FF2B5EF4-FFF2-40B4-BE49-F238E27FC236}">
                <a16:creationId xmlns:a16="http://schemas.microsoft.com/office/drawing/2014/main" id="{C75D91CF-37FA-D38D-CAC0-73154CABE9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300" y="1420091"/>
            <a:ext cx="4546834" cy="2286117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E9C48D-1CB1-E7C5-BB9B-408FABEB0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5F5BE8-BCA1-58F5-B0B0-E3080B920725}"/>
                  </a:ext>
                </a:extLst>
              </p:cNvPr>
              <p:cNvSpPr txBox="1"/>
              <p:nvPr/>
            </p:nvSpPr>
            <p:spPr>
              <a:xfrm>
                <a:off x="5245971" y="1747025"/>
                <a:ext cx="3397918" cy="215905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할인율이 </a:t>
                </a:r>
                <a:r>
                  <a:rPr lang="en-US" altLang="ko-KR" dirty="0"/>
                  <a:t>0.9</a:t>
                </a:r>
                <a:r>
                  <a:rPr lang="ko-KR" altLang="en-US" dirty="0"/>
                  <a:t>일 때</a:t>
                </a:r>
                <a:endParaRPr lang="en-US" altLang="ko-KR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b="0" i="0" smtClean="0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{"/>
                          <m:endChr m:val=""/>
                          <m:ctrlPr>
                            <a:rPr lang="ko-KR" alt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ko-KR" alt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−1+0.9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1+0.9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en-US" altLang="ko-KR" b="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>
                          <a:latin typeface="Cambria Math" panose="02040503050406030204" pitchFamily="18" charset="0"/>
                        </a:rPr>
                        <m:t>max</m:t>
                      </m:r>
                      <m:d>
                        <m:dPr>
                          <m:begChr m:val="{"/>
                          <m:endChr m:val=""/>
                          <m:ctrlPr>
                            <a:rPr lang="ko-KR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ko-KR" altLang="en-US" i="1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+0.9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altLang="ko-KR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1+0.9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  <m:r>
                                    <a:rPr lang="en-US" altLang="ko-KR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d>
                            </m:e>
                          </m:eqArr>
                        </m:e>
                      </m:d>
                    </m:oMath>
                  </m:oMathPara>
                </a14:m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315F5BE8-BCA1-58F5-B0B0-E3080B9207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5971" y="1747025"/>
                <a:ext cx="3397918" cy="2159053"/>
              </a:xfrm>
              <a:prstGeom prst="rect">
                <a:avLst/>
              </a:prstGeom>
              <a:blipFill>
                <a:blip r:embed="rId3"/>
                <a:stretch>
                  <a:fillRect l="-1616" t="-226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168AA8-1F7C-B446-F8A9-9D583EFF308F}"/>
                  </a:ext>
                </a:extLst>
              </p:cNvPr>
              <p:cNvSpPr txBox="1"/>
              <p:nvPr/>
            </p:nvSpPr>
            <p:spPr>
              <a:xfrm>
                <a:off x="1279274" y="4309068"/>
                <a:ext cx="4719562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dirty="0"/>
                  <a:t>연립 방정식을 </a:t>
                </a:r>
                <a:r>
                  <a:rPr lang="en-US" altLang="ko-KR" dirty="0"/>
                  <a:t>‘</a:t>
                </a:r>
                <a:r>
                  <a:rPr lang="ko-KR" altLang="en-US" dirty="0"/>
                  <a:t>비선형 방정식 계산기</a:t>
                </a:r>
                <a:r>
                  <a:rPr lang="en-US" altLang="ko-KR" dirty="0"/>
                  <a:t>’</a:t>
                </a:r>
                <a:r>
                  <a:rPr lang="ko-KR" altLang="en-US" dirty="0"/>
                  <a:t>로 풀면</a:t>
                </a:r>
                <a:endParaRPr lang="en-US" altLang="ko-KR" dirty="0"/>
              </a:p>
              <a:p>
                <a:endParaRPr lang="en-US" altLang="ko-KR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5.26</m:t>
                      </m:r>
                    </m:oMath>
                  </m:oMathPara>
                </a14:m>
                <a:endParaRPr lang="en-US" altLang="ko-KR" b="0" dirty="0"/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 smtClean="0">
                          <a:latin typeface="Cambria Math" panose="02040503050406030204" pitchFamily="18" charset="0"/>
                        </a:rPr>
                        <m:t>4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.73</m:t>
                      </m:r>
                    </m:oMath>
                  </m:oMathPara>
                </a14:m>
                <a:endParaRPr lang="ko-KR" altLang="en-US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168AA8-1F7C-B446-F8A9-9D583EFF3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9274" y="4309068"/>
                <a:ext cx="4719562" cy="1477328"/>
              </a:xfrm>
              <a:prstGeom prst="rect">
                <a:avLst/>
              </a:prstGeom>
              <a:blipFill>
                <a:blip r:embed="rId4"/>
                <a:stretch>
                  <a:fillRect l="-1163" t="-3306" r="-25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50219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3C8F6F-695C-59E6-0F31-1CBAD0614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 정책 구하기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536FA91-0792-0814-111D-5359FC20E9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최적 </a:t>
                </a:r>
                <a:r>
                  <a:rPr lang="en-US" altLang="ko-KR" dirty="0"/>
                  <a:t>Q </a:t>
                </a:r>
                <a:r>
                  <a:rPr lang="ko-KR" altLang="en-US" dirty="0"/>
                  <a:t>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lang="ko-KR" altLang="en-US" dirty="0"/>
                  <a:t>를 알고 있다고 가정하면 상태 </a:t>
                </a:r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ko-KR" altLang="en-US" dirty="0"/>
                  <a:t>에서의 최적 행동은</a:t>
                </a: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r>
                  <a:rPr lang="en-US" altLang="ko-KR" dirty="0"/>
                  <a:t>Q </a:t>
                </a:r>
                <a:r>
                  <a:rPr lang="ko-KR" altLang="en-US" dirty="0"/>
                  <a:t>함수를 이용한 아래의 </a:t>
                </a:r>
                <a:r>
                  <a:rPr lang="ko-KR" altLang="en-US" dirty="0" err="1"/>
                  <a:t>벨만</a:t>
                </a:r>
                <a:r>
                  <a:rPr lang="ko-KR" altLang="en-US" dirty="0"/>
                  <a:t> 방정식을</a:t>
                </a: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endParaRPr lang="en-US" altLang="ko-KR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dirty="0"/>
                  <a:t>맨 위 식에 적용하면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536FA91-0792-0814-111D-5359FC20E9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40" t="-1155" r="-1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9DB783-7863-102C-2844-EE5016AFD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ABC40D7-8605-2CD5-CC2F-B02B396D5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79" t="6530" r="34762"/>
          <a:stretch>
            <a:fillRect/>
          </a:stretch>
        </p:blipFill>
        <p:spPr>
          <a:xfrm>
            <a:off x="2662913" y="2096428"/>
            <a:ext cx="3470257" cy="73598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8D0DBA6B-51C3-6454-0F11-1BE73C1F1F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774" t="-4566" r="21774"/>
          <a:stretch>
            <a:fillRect/>
          </a:stretch>
        </p:blipFill>
        <p:spPr>
          <a:xfrm>
            <a:off x="1886728" y="3696237"/>
            <a:ext cx="5572746" cy="85306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B074EF2-B798-B8C2-D35F-BE2522FEF58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4" t="9669" r="18677"/>
          <a:stretch>
            <a:fillRect/>
          </a:stretch>
        </p:blipFill>
        <p:spPr>
          <a:xfrm>
            <a:off x="920931" y="5483339"/>
            <a:ext cx="6954219" cy="85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52D1A9-A058-555E-8F55-830318C4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최적 정책 구하기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CB3193F-1236-090C-A900-808AABDA47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52129" y="4155902"/>
                <a:ext cx="8850201" cy="2180504"/>
              </a:xfrm>
            </p:spPr>
            <p:txBody>
              <a:bodyPr>
                <a:normAutofit fontScale="85000" lnSpcReduction="10000"/>
              </a:bodyPr>
              <a:lstStyle/>
              <a:p>
                <a:pPr algn="just">
                  <a:lnSpc>
                    <a:spcPct val="100000"/>
                  </a:lnSpc>
                </a:pPr>
                <a:r>
                  <a:rPr lang="ko-KR" altLang="en-US" sz="2400" dirty="0"/>
                  <a:t>상태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2400" dirty="0"/>
                  <a:t>에서의 최적 행동을 구하면</a:t>
                </a:r>
                <a:r>
                  <a:rPr lang="en-US" altLang="ko-KR" sz="2400" dirty="0"/>
                  <a:t>,</a:t>
                </a:r>
              </a:p>
              <a:p>
                <a:pPr algn="just">
                  <a:lnSpc>
                    <a:spcPct val="100000"/>
                  </a:lnSpc>
                </a:pPr>
                <a:r>
                  <a:rPr lang="en-US" altLang="ko-KR" sz="2400" dirty="0"/>
                  <a:t>Left</a:t>
                </a:r>
                <a:r>
                  <a:rPr lang="ko-KR" altLang="en-US" sz="2400" dirty="0"/>
                  <a:t>를 선택</a:t>
                </a:r>
                <a:endParaRPr lang="en-US" altLang="ko-KR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−1+0.9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=−1+0.9∗5.26=3.734</m:t>
                      </m:r>
                    </m:oMath>
                  </m:oMathPara>
                </a14:m>
                <a:endParaRPr lang="en-US" altLang="ko-KR" sz="2400" dirty="0"/>
              </a:p>
              <a:p>
                <a:pPr algn="just">
                  <a:lnSpc>
                    <a:spcPct val="100000"/>
                  </a:lnSpc>
                </a:pPr>
                <a:r>
                  <a:rPr lang="en-US" altLang="ko-KR" sz="2400" dirty="0"/>
                  <a:t>Right</a:t>
                </a:r>
                <a:r>
                  <a:rPr lang="ko-KR" altLang="en-US" sz="2400" dirty="0"/>
                  <a:t>를 선택</a:t>
                </a:r>
                <a:endParaRPr lang="en-US" altLang="ko-KR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1+0.9</m:t>
                      </m:r>
                      <m:sSub>
                        <m:sSub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∗</m:t>
                          </m:r>
                        </m:sub>
                      </m:sSub>
                      <m:d>
                        <m:dPr>
                          <m:ctrlPr>
                            <a:rPr lang="en-US" altLang="ko-KR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2400" i="1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altLang="ko-K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=1+0.9∗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4.73</m:t>
                      </m:r>
                      <m:r>
                        <a:rPr lang="en-US" altLang="ko-KR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5.257</m:t>
                      </m:r>
                    </m:oMath>
                  </m:oMathPara>
                </a14:m>
                <a:endParaRPr lang="en-US" altLang="ko-KR" sz="2400" dirty="0"/>
              </a:p>
              <a:p>
                <a:pPr algn="just">
                  <a:lnSpc>
                    <a:spcPct val="100000"/>
                  </a:lnSpc>
                </a:pPr>
                <a:r>
                  <a:rPr lang="ko-KR" altLang="en-US" sz="2400" dirty="0"/>
                  <a:t>같은 방식으로 상태 </a:t>
                </a:r>
                <a14:m>
                  <m:oMath xmlns:m="http://schemas.openxmlformats.org/officeDocument/2006/math"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24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ko-KR" altLang="en-US" sz="2400" dirty="0"/>
                  <a:t>에서의 최적 행동을</a:t>
                </a:r>
                <a:r>
                  <a:rPr lang="en-US" altLang="ko-KR" sz="2400" dirty="0"/>
                  <a:t> </a:t>
                </a:r>
                <a:r>
                  <a:rPr lang="ko-KR" altLang="en-US" sz="2400" dirty="0"/>
                  <a:t>구함</a:t>
                </a:r>
                <a:endParaRPr lang="en-US" altLang="ko-KR" sz="2400" dirty="0"/>
              </a:p>
              <a:p>
                <a:pPr marL="0" indent="0" algn="just">
                  <a:lnSpc>
                    <a:spcPct val="100000"/>
                  </a:lnSpc>
                  <a:buNone/>
                </a:pPr>
                <a:endParaRPr lang="ko-KR" altLang="en-US" sz="2400" dirty="0"/>
              </a:p>
              <a:p>
                <a:pPr algn="just">
                  <a:lnSpc>
                    <a:spcPct val="100000"/>
                  </a:lnSpc>
                </a:pPr>
                <a:endParaRPr lang="ko-KR" altLang="en-US" sz="2400" dirty="0"/>
              </a:p>
              <a:p>
                <a:pPr algn="just">
                  <a:lnSpc>
                    <a:spcPct val="100000"/>
                  </a:lnSpc>
                </a:pPr>
                <a:endParaRPr lang="ko-KR" altLang="en-US" sz="2400" dirty="0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CB3193F-1236-090C-A900-808AABDA47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129" y="4155902"/>
                <a:ext cx="8850201" cy="2180504"/>
              </a:xfrm>
              <a:blipFill>
                <a:blip r:embed="rId2"/>
                <a:stretch>
                  <a:fillRect l="-620" t="-3081" b="-504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D851C3-DF0F-D7C6-7D9F-486F77912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44BEB-34CB-469D-8313-83BA6B52212E}" type="slidenum">
              <a:rPr lang="ko-KR" altLang="en-US" smtClean="0"/>
              <a:t>24</a:t>
            </a:fld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9938DB8-DC82-4AFE-8C8B-A2EE1D5D62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166" y="1607221"/>
            <a:ext cx="3683189" cy="2336920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59FFE83D-D77B-4E70-0775-9BAC982704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4" t="9669" r="18677" b="9202"/>
          <a:stretch>
            <a:fillRect/>
          </a:stretch>
        </p:blipFill>
        <p:spPr>
          <a:xfrm>
            <a:off x="730615" y="1148838"/>
            <a:ext cx="6954219" cy="766171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264B2C5E-9B51-B5B4-739E-4A8677AF5EC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1276" y="2198122"/>
            <a:ext cx="2489328" cy="23369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BB039D4-63C6-3F27-C967-360674B04759}"/>
              </a:ext>
            </a:extLst>
          </p:cNvPr>
          <p:cNvSpPr txBox="1"/>
          <p:nvPr/>
        </p:nvSpPr>
        <p:spPr>
          <a:xfrm>
            <a:off x="3930161" y="2090955"/>
            <a:ext cx="13917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이미 구했음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53D47E-A938-6BEC-5331-9F33CE413A93}"/>
                  </a:ext>
                </a:extLst>
              </p:cNvPr>
              <p:cNvSpPr txBox="1"/>
              <p:nvPr/>
            </p:nvSpPr>
            <p:spPr>
              <a:xfrm>
                <a:off x="5934808" y="4439026"/>
                <a:ext cx="3389069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ko-KR" altLang="en-US" sz="1400" dirty="0"/>
                  <a:t>에서는 오른쪽으로 </a:t>
                </a:r>
                <a14:m>
                  <m:oMath xmlns:m="http://schemas.openxmlformats.org/officeDocument/2006/math"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altLang="ko-KR" sz="140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ko-KR" altLang="en-US" sz="1400" dirty="0"/>
                  <a:t>에서는 왼쪽으로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153D47E-A938-6BEC-5331-9F33CE413A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4808" y="4439026"/>
                <a:ext cx="3389069" cy="307777"/>
              </a:xfrm>
              <a:prstGeom prst="rect">
                <a:avLst/>
              </a:prstGeom>
              <a:blipFill>
                <a:blip r:embed="rId6"/>
                <a:stretch>
                  <a:fillRect t="-5882" b="-176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498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16870</TotalTime>
  <Words>1219</Words>
  <Application>Microsoft Office PowerPoint</Application>
  <PresentationFormat>화면 슬라이드 쇼(4:3)</PresentationFormat>
  <Paragraphs>195</Paragraphs>
  <Slides>24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0" baseType="lpstr">
      <vt:lpstr>맑은 고딕</vt:lpstr>
      <vt:lpstr>Arial</vt:lpstr>
      <vt:lpstr>Calibri</vt:lpstr>
      <vt:lpstr>Calibri Light</vt:lpstr>
      <vt:lpstr>Cambria Math</vt:lpstr>
      <vt:lpstr>Office 테마</vt:lpstr>
      <vt:lpstr>벨만 방정식</vt:lpstr>
      <vt:lpstr>결정적 vs 확률적 행동</vt:lpstr>
      <vt:lpstr>벨만 방정식 도출</vt:lpstr>
      <vt:lpstr>벨만 방정식 도출 (첫번째 항)</vt:lpstr>
      <vt:lpstr>벨만 방정식 도출 (첫번째 항)</vt:lpstr>
      <vt:lpstr>벨만 방정식 도출 (두번째 항)</vt:lpstr>
      <vt:lpstr>벨만 방정식</vt:lpstr>
      <vt:lpstr>벨만 방정식의 예</vt:lpstr>
      <vt:lpstr>벨만 방정식의 예</vt:lpstr>
      <vt:lpstr>상태 L1에서의 벨만 방정식</vt:lpstr>
      <vt:lpstr>상태 L2에서의 벨만 방정식</vt:lpstr>
      <vt:lpstr>모든 상태에서의 벨만 방정식</vt:lpstr>
      <vt:lpstr>행동 가치 함수(action-value function, Q함수) </vt:lpstr>
      <vt:lpstr>Q함수와 상태 가치 함수의 관계</vt:lpstr>
      <vt:lpstr>Q함수와 상태 가치 함수의 관계</vt:lpstr>
      <vt:lpstr>Q 함수를 이용한 벨만 방정식</vt:lpstr>
      <vt:lpstr>벨만 최적 방정식</vt:lpstr>
      <vt:lpstr>상태 가치 함수의 벨만 최적 방정식</vt:lpstr>
      <vt:lpstr>상태 가치 함수의 벨만 최적 방정식</vt:lpstr>
      <vt:lpstr>Q 함수의 벨만 최적 방정식</vt:lpstr>
      <vt:lpstr>벨만 최적 방정식의 예</vt:lpstr>
      <vt:lpstr>벨만 최적 방정식의 예</vt:lpstr>
      <vt:lpstr>최적 정책 구하기</vt:lpstr>
      <vt:lpstr>최적 정책 구하기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Techniques for 2-hop Labeling of Dynamic Directed Acyclic Graphs</dc:title>
  <dc:creator>Windows 사용자</dc:creator>
  <cp:lastModifiedBy>안진현</cp:lastModifiedBy>
  <cp:revision>591</cp:revision>
  <cp:lastPrinted>2016-10-13T23:42:19Z</cp:lastPrinted>
  <dcterms:created xsi:type="dcterms:W3CDTF">2016-09-30T16:23:03Z</dcterms:created>
  <dcterms:modified xsi:type="dcterms:W3CDTF">2026-10-12T04:43:25Z</dcterms:modified>
</cp:coreProperties>
</file>